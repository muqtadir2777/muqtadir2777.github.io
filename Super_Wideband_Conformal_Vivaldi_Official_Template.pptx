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3"/>
    <p:sldMasterId id="2147483700" r:id="rId4"/>
  </p:sldMasterIdLst>
  <p:notesMasterIdLst>
    <p:notesMasterId r:id="rId26"/>
  </p:notesMasterIdLst>
  <p:handoutMasterIdLst>
    <p:handoutMasterId r:id="rId27"/>
  </p:handoutMasterIdLst>
  <p:sldIdLst>
    <p:sldId id="688" r:id="rId5"/>
    <p:sldId id="423" r:id="rId6"/>
    <p:sldId id="804" r:id="rId7"/>
    <p:sldId id="512" r:id="rId8"/>
    <p:sldId id="777" r:id="rId9"/>
    <p:sldId id="759" r:id="rId10"/>
    <p:sldId id="766" r:id="rId11"/>
    <p:sldId id="746" r:id="rId12"/>
    <p:sldId id="781" r:id="rId13"/>
    <p:sldId id="808" r:id="rId14"/>
    <p:sldId id="809" r:id="rId15"/>
    <p:sldId id="810" r:id="rId16"/>
    <p:sldId id="811" r:id="rId17"/>
    <p:sldId id="782" r:id="rId18"/>
    <p:sldId id="805" r:id="rId19"/>
    <p:sldId id="812" r:id="rId20"/>
    <p:sldId id="813" r:id="rId21"/>
    <p:sldId id="756" r:id="rId22"/>
    <p:sldId id="731" r:id="rId23"/>
    <p:sldId id="788" r:id="rId24"/>
    <p:sldId id="763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7194322-BF36-401D-953E-2F6A9ABC4B43}">
          <p14:sldIdLst>
            <p14:sldId id="688"/>
            <p14:sldId id="423"/>
            <p14:sldId id="804"/>
            <p14:sldId id="512"/>
            <p14:sldId id="777"/>
            <p14:sldId id="759"/>
            <p14:sldId id="766"/>
            <p14:sldId id="746"/>
            <p14:sldId id="781"/>
            <p14:sldId id="808"/>
            <p14:sldId id="809"/>
            <p14:sldId id="810"/>
            <p14:sldId id="811"/>
            <p14:sldId id="782"/>
            <p14:sldId id="805"/>
            <p14:sldId id="812"/>
            <p14:sldId id="813"/>
            <p14:sldId id="756"/>
            <p14:sldId id="731"/>
            <p14:sldId id="788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AC5"/>
    <a:srgbClr val="17375E"/>
    <a:srgbClr val="5C84CC"/>
    <a:srgbClr val="00B050"/>
    <a:srgbClr val="FFC000"/>
    <a:srgbClr val="AE7B05"/>
    <a:srgbClr val="E6E0EC"/>
    <a:srgbClr val="4BACC6"/>
    <a:srgbClr val="F79646"/>
    <a:srgbClr val="68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B657A-F79F-4261-8088-C1828CA1C4A8}" v="29" dt="2024-03-21T01:58:09.021"/>
    <p1510:client id="{C4F49B1B-666B-428E-8B95-C83A65D2B9AD}" v="2815" dt="2024-03-20T21:06:4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5" autoAdjust="0"/>
    <p:restoredTop sz="54215" autoAdjust="0"/>
  </p:normalViewPr>
  <p:slideViewPr>
    <p:cSldViewPr snapToGrid="0">
      <p:cViewPr varScale="1">
        <p:scale>
          <a:sx n="117" d="100"/>
          <a:sy n="117" d="100"/>
        </p:scale>
        <p:origin x="212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>
        <p:scale>
          <a:sx n="1" d="2"/>
          <a:sy n="1" d="2"/>
        </p:scale>
        <p:origin x="398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FD6CB-EBFB-41D6-99FE-037A46211617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DDA4B-8B5A-4946-89A2-A0ADC765D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88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8AB33E-8ECE-47FD-9996-1CE0B0D340D4}" type="datetimeFigureOut">
              <a:rPr lang="en-US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3F4497-A192-4A36-AF7A-D68AD4727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30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EB52-B167-CE25-F328-7C42E78F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0967-8E53-A6FE-3ECE-816F1F7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6C03-996E-1A8E-79A8-CE795468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6F4C-27FD-4D5A-4AD3-C2C3918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4A09-5422-50F1-17B6-F2C9EA3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0380-162F-5EFF-A650-30AAF0AA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D160-4B80-8046-1484-7677500F4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76BE-1418-3C3F-6762-C1957CDC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A8DC0-50B0-0CB5-F548-6136A59F1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6894-D3A5-70B6-03EB-859311AA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6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4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02C-154B-5973-BCF2-E88176BE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12CE6-F21E-4E13-D16C-5C33810FB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4E19B-2F97-E031-8F69-3DA9EC39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2C0DD-1A4E-4049-05AF-41F6528E9C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F863-42BC-E201-C1F6-3C73ED17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0735-1FCC-5528-A8A2-1A7F224F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8264-E2EC-0E90-8393-1152FA59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E4FD-4E15-247E-D3E6-90FFBFA09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B6C88-B313-99F9-25E3-2458EF1A8A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A1C50-2002-5E95-0F73-C4192DCA4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B45-3A60-B801-868F-6D1252B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33155-6983-2EEE-04E8-5BCB4D686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D37BC-0C25-1018-B3EA-77364C8C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126B7-6ADC-3E51-D171-71DB562DA2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0CFE-3DE0-9404-C81B-E2B4D827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279E-BA30-16E8-B7FA-50FF516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EF31-EF96-7853-90F0-B99D2D82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74CC-B62F-69C6-46F7-86378B39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6EE88-07CC-0AB4-3DDE-CB073C4344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373C7-882B-FA80-7437-59BBD6D30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7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4B0-1958-8B1F-9664-438F4573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61B4-039A-D9F7-9C15-7D744993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1590-ECA2-BECB-0A45-86007739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1AE9-0846-F0AD-6D1B-525B0C7EE6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59F06-AF61-4D55-848D-DF82160C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7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44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4-3282-85AC-7715-8E7697AA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92C44-F4CF-7B17-FF29-E202D074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AA631-1741-E891-47E9-38840E6F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A531A-9A41-3839-B210-125C62E98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348C0-6EC8-0A52-3917-1D1F1000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D08-120B-162A-1223-E31D8C9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8AD66-9F52-BAEA-0D78-13F353BFC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ED-80DB-2DFB-146A-C65A908B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2AF8-01FA-950F-9D14-34C16F8AB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20D0F-86BF-66BB-9F49-F63EC516E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2C9-A281-3A4C-1BFF-034EB009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8F71-D5CA-0971-F277-D19CC737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C61B3-51CC-EE3E-5C43-7C285A39E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716EB-0139-8D78-40B8-12BBBFB0CC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A996A-5221-A80E-8BB4-F408641A4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6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095A6-EDF1-0DE7-3D81-FC44221760C8}"/>
              </a:ext>
            </a:extLst>
          </p:cNvPr>
          <p:cNvSpPr/>
          <p:nvPr userDrawn="1"/>
        </p:nvSpPr>
        <p:spPr>
          <a:xfrm>
            <a:off x="0" y="6392865"/>
            <a:ext cx="12192000" cy="46513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9199291" y="6444388"/>
            <a:ext cx="2844800" cy="365125"/>
          </a:xfrm>
        </p:spPr>
        <p:txBody>
          <a:bodyPr/>
          <a:lstStyle>
            <a:lvl1pPr algn="r">
              <a:defRPr sz="1400" b="0"/>
            </a:lvl1pPr>
          </a:lstStyle>
          <a:p>
            <a:pPr>
              <a:defRPr/>
            </a:pPr>
            <a:fld id="{3C7A04D2-60CF-4814-B4CA-934AD53FD058}" type="datetime5">
              <a:rPr lang="en-US" smtClean="0"/>
              <a:t>22-Aug-26</a:t>
            </a:fld>
            <a:endParaRPr lang="en-US" b="0" dirty="0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320800" y="1371600"/>
            <a:ext cx="10871200" cy="0"/>
          </a:xfrm>
          <a:prstGeom prst="line">
            <a:avLst/>
          </a:prstGeom>
          <a:ln w="57150">
            <a:solidFill>
              <a:srgbClr val="FA8C2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4891" y="465135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/26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220px-CAE.png">
            <a:extLst>
              <a:ext uri="{FF2B5EF4-FFF2-40B4-BE49-F238E27FC236}">
                <a16:creationId xmlns:a16="http://schemas.microsoft.com/office/drawing/2014/main" id="{AFB4D32E-2420-DC34-1D75-AA021D370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909" y="38295"/>
            <a:ext cx="1052061" cy="1387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C2C1B-3742-927C-D5B7-A2B5B456765C}"/>
              </a:ext>
            </a:extLst>
          </p:cNvPr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NS Zahid Ashraf</a:t>
            </a:r>
            <a:endParaRPr lang="en-PK" sz="1400" b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0BBDDC-90CC-991C-1DBD-847EF7E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4890" y="6434319"/>
            <a:ext cx="8182220" cy="375194"/>
          </a:xfr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989-EF31-2F75-85C3-49020F7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54" y="2857500"/>
            <a:ext cx="702969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pic>
        <p:nvPicPr>
          <p:cNvPr id="6" name="Picture 5" descr="220px-CAE.png">
            <a:extLst>
              <a:ext uri="{FF2B5EF4-FFF2-40B4-BE49-F238E27FC236}">
                <a16:creationId xmlns:a16="http://schemas.microsoft.com/office/drawing/2014/main" id="{F14E2A48-4A29-7006-1D24-ECF0F1E43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763928" y="2120376"/>
            <a:ext cx="3881376" cy="511738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3740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0C87-FECE-9AE2-B4EF-EE32BEB8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16310-3880-D54C-8A99-A6319B28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00C-AF10-B06F-BE6C-C2AC699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9846-2EFF-45C9-83BC-B2C3530FCCF4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14FE-FF8D-9148-0873-7130A691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38D5-C0A2-3573-4209-80D2027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15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71B-1176-1169-28C2-5A2FEC2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6990-E7FF-7A3F-3EAF-4AB1AE07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EF92-EE40-0876-AE19-E4DA6398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FC91-3BAA-4E68-BC32-4398403AE6BE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1210-3584-FA97-5E59-92DF380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B4D0-92B6-2E7F-6317-C4B7C961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229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A5A6-8C14-BEC8-C4F9-C0B4577D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3597-C805-B3FB-E9DA-5ADD19E3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C19B-1F84-B3A8-BE2C-B9A41622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256A-66FD-4E21-A33F-03CCB3964FF7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B166-9D9A-7909-F6F0-A4492048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FF28-530D-C87D-048B-DDC66028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9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2A78-DC2B-4E45-75C7-6C7BA361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1A05-4F71-5F51-F69B-1B43C0D7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ECFA2-676F-6435-249D-95BA210A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9B354-CDC5-D4B1-2162-452BB744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8528-B258-460F-8547-7FC2A34E342F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7CA0-F152-9792-3358-146B301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F5548-2143-0DCA-1E76-99D4D8E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73F-5D29-D643-62B9-B9B64E2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D76D-F02B-3CF1-0DC9-101C1794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803B-4A02-BF1D-7412-D178A6AB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2ACAC-6F89-0683-9E1B-E088AE24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F958-B54A-B20E-DAFB-8CC96909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021AC-FAFE-18A5-69DF-462DAB6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2EEA-C719-4935-84AD-C968AE22C73F}" type="datetime5">
              <a:rPr lang="en-US" smtClean="0"/>
              <a:t>22-Aug-26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E59A1-4041-5B3B-6A95-F319BE28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14F64-63F2-CA0F-6ADD-63E9EDE1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00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5D-A0DE-DEE1-FB07-E6CB1B49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1A1E4-7BAD-8857-6B18-C36E5519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C20B-DB8D-4D3B-B21C-61FD478AE6B5}" type="datetime5">
              <a:rPr lang="en-US" smtClean="0"/>
              <a:t>22-Aug-26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D42D-C446-8C4F-760A-C9D696F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5B326-9749-6F7C-ABC8-F0CD477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9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BE930-40DD-714E-1741-E0219CA7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5DBE-0259-4CFE-B736-F0DC49BB924F}" type="datetime5">
              <a:rPr lang="en-US" smtClean="0"/>
              <a:t>22-Aug-26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1BD79-8D58-FE43-7001-83ED969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F154-69A3-7627-AFB3-5A31F106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2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6D80-A49F-EA1C-A87D-23BC33C3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3A0B-0E07-9068-469B-1793FD5A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69728-D06E-FC34-BA50-9045F60E8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F407F-6804-51C3-C1BF-78ACE5F7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3A0C-0470-46FC-8793-E93267C4B1CC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8FB-A719-C871-2688-F13D2A8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FE64C-C1BF-6138-79AF-CE9EF1B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7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DB5D-7962-1D62-F4F8-E883008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6D4E2-1645-3A1C-1B61-A280324B6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DB92-8C71-9684-EA72-F786EB70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35C7-54B4-7007-47F6-291B37C0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1CAD-835A-4B3B-B63E-EAFEFC03D019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B696-B868-3840-7932-FCFAE92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D83C-AA80-0663-36F4-C81601F2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81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0BE-0CB7-0DF7-BC45-CCF37AD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1C-E9AE-1501-63E1-5A79A257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0E97-812B-AED9-C3FF-039FEC5E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4575-6FDA-48AD-8250-EA8FA52E42ED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A54D-9AD1-EDEE-9B78-D1644301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50D0-7BDD-1B2F-26CF-A4755F39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51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A4F0-51E3-C6E6-D4E5-3749557E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8D7B6-F0E2-A8EC-E24B-FFD1CF7E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75B0-AAF0-9404-0C9A-A645B03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8238-3EC9-4607-AE9E-9AD21115C7CA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00C8-AD98-748D-2BF3-97011A3F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DB40-423D-1ECC-B333-F743883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07738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3D7E291E-FFA4-4F3C-82A5-9DC4CDF6BA43}" type="datetime5">
              <a:rPr lang="en-US" smtClean="0"/>
              <a:t>22-Aug-26</a:t>
            </a:fld>
            <a:endParaRPr lang="en-US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775" y="6356351"/>
            <a:ext cx="5632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dirty="0">
              <a:latin typeface="+mj-lt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1200" y="6400801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0377D7-8C3A-478A-B47F-247E829E3D11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/27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12" r:id="rId2"/>
  </p:sldLayoutIdLst>
  <p:transition advClick="0">
    <p:fade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«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A872F-4F82-75C4-5A57-F21602CC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2BB0-A931-C27E-BD5C-B9541020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0B68-7525-EE0B-0A3B-2C209222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4D501-A831-4F70-A730-A517A2680FA7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54568-A4BF-C3C0-05B9-F689FC19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5762-4B78-2922-364A-E2C279E6C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45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4051-79A4-F230-D681-261A27688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689A-7A4E-26EE-9A1E-4C25DF172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C2BE6-0C7F-6DC9-6966-17DB778A5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122" name="Picture 2" descr="Free Bismillah Images: Download High-Quality Islamic Profile Pics ...">
            <a:extLst>
              <a:ext uri="{FF2B5EF4-FFF2-40B4-BE49-F238E27FC236}">
                <a16:creationId xmlns:a16="http://schemas.microsoft.com/office/drawing/2014/main" id="{8FB7991F-5DAC-633E-8A76-8C086DBE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3" y="1882486"/>
            <a:ext cx="6186054" cy="30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EC44-E281-8768-4B81-AEE3B12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576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552700" y="76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 b="1" sz="1800">
                <a:solidFill>
                  <a:srgbClr val="FFC000"/>
                </a:solidFill>
                <a:latin typeface="Arial"/>
              </a:defRPr>
            </a:pPr>
            <a:r>
              <a:t>EE / AV – 313</a:t>
            </a:r>
          </a:p>
          <a:p>
            <a:pPr algn="ctr">
              <a:defRPr b="1" sz="1800">
                <a:solidFill>
                  <a:srgbClr val="FFC000"/>
                </a:solidFill>
                <a:latin typeface="Arial"/>
              </a:defRPr>
            </a:pPr>
            <a:r>
              <a:t>COMPLEX ENGINEERING PROBLEM PRESENTATION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552700" y="1143000"/>
            <a:ext cx="7086600" cy="1588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43114" y="1295401"/>
            <a:ext cx="7305773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b="1" sz="1600">
                <a:solidFill>
                  <a:srgbClr val="FFC000"/>
                </a:solidFill>
                <a:latin typeface="Arial"/>
              </a:defRPr>
            </a:pPr>
            <a:r>
              <a:t>Design, Simulation &amp; Multi-Iteration Optimization of a Super Wideband (3–18 GHz) Planar &amp; Conformal Vivaldi Antenna for UAV/EW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8020275" y="5940730"/>
            <a:ext cx="385740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b="1" sz="1400">
                <a:solidFill>
                  <a:srgbClr val="FFC000"/>
                </a:solidFill>
                <a:latin typeface="Arial"/>
              </a:defRPr>
            </a:pPr>
            <a:r>
              <a:t>Department: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Dept. of Avionics Engineering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NUST College of Aeronautical Engineering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Risalpur, Pakistan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314324" y="5940730"/>
            <a:ext cx="39119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b="1" sz="1400">
                <a:solidFill>
                  <a:srgbClr val="FFC000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Abdul Muqtadir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Total Slides: 21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0" y="2311716"/>
            <a:ext cx="2667000" cy="34436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5FFFB-E4D0-5C70-6E34-0F147DB1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2/21</a:t>
            </a:r>
          </a:p>
        </p:txBody>
      </p:sp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E6B3-7770-128E-9040-9860EB4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A4EA741-3ACC-013F-2917-374D4B0F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Sequence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024E6F6-C687-E3B3-E26C-BC94DF37F118}"/>
              </a:ext>
            </a:extLst>
          </p:cNvPr>
          <p:cNvSpPr/>
          <p:nvPr/>
        </p:nvSpPr>
        <p:spPr>
          <a:xfrm>
            <a:off x="4233947" y="3130215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A96DC49-F5F4-5BE7-CE7F-0AF41D299A23}"/>
              </a:ext>
            </a:extLst>
          </p:cNvPr>
          <p:cNvSpPr/>
          <p:nvPr/>
        </p:nvSpPr>
        <p:spPr>
          <a:xfrm>
            <a:off x="4233947" y="2340596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38E58B5-76D7-E9D7-8E80-9C078E7CA524}"/>
              </a:ext>
            </a:extLst>
          </p:cNvPr>
          <p:cNvSpPr/>
          <p:nvPr/>
        </p:nvSpPr>
        <p:spPr>
          <a:xfrm>
            <a:off x="4228774" y="1550978"/>
            <a:ext cx="3724105" cy="721294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Project Aim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F25805F-0D01-6022-07FA-63EB8E10767D}"/>
              </a:ext>
            </a:extLst>
          </p:cNvPr>
          <p:cNvSpPr/>
          <p:nvPr/>
        </p:nvSpPr>
        <p:spPr>
          <a:xfrm>
            <a:off x="4230210" y="3919833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F4DAE-06EC-40DF-E187-2AC1EC630858}"/>
              </a:ext>
            </a:extLst>
          </p:cNvPr>
          <p:cNvSpPr/>
          <p:nvPr/>
        </p:nvSpPr>
        <p:spPr>
          <a:xfrm>
            <a:off x="4232509" y="4709452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44606ED-03EB-EB5E-E5EC-0337146F4233}"/>
              </a:ext>
            </a:extLst>
          </p:cNvPr>
          <p:cNvSpPr/>
          <p:nvPr/>
        </p:nvSpPr>
        <p:spPr>
          <a:xfrm>
            <a:off x="4221301" y="5499070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b="1" sz="14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185F-C50F-A13F-0CC7-227735735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3/21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86AEB-FD3D-6D40-C69F-9DD27C60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</p:spTree>
    <p:extLst>
      <p:ext uri="{BB962C8B-B14F-4D97-AF65-F5344CB8AC3E}">
        <p14:creationId xmlns:p14="http://schemas.microsoft.com/office/powerpoint/2010/main" val="2813165508"/>
      </p:ext>
    </p:extLst>
  </p:cSld>
  <p:clrMapOvr>
    <a:masterClrMapping/>
  </p:clrMapOvr>
  <p:transition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Project Aim &amp; Core Objectives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9E81B7-EBC3-ABDE-6BB1-7D06BA0A2065}"/>
              </a:ext>
            </a:extLst>
          </p:cNvPr>
          <p:cNvSpPr/>
          <p:nvPr/>
        </p:nvSpPr>
        <p:spPr>
          <a:xfrm>
            <a:off x="1501285" y="3010686"/>
            <a:ext cx="9697432" cy="1490133"/>
          </a:xfrm>
          <a:prstGeom prst="roundRect">
            <a:avLst/>
          </a:prstGeom>
          <a:gradFill flip="none" rotWithShape="1">
            <a:gsLst>
              <a:gs pos="0">
                <a:srgbClr val="A45004">
                  <a:shade val="30000"/>
                  <a:satMod val="115000"/>
                </a:srgbClr>
              </a:gs>
              <a:gs pos="50000">
                <a:srgbClr val="A45004">
                  <a:shade val="67500"/>
                  <a:satMod val="115000"/>
                </a:srgbClr>
              </a:gs>
              <a:gs pos="100000">
                <a:srgbClr val="A45004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08B1-CBD9-A75C-62AE-3A381A380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4/21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C86B-8544-2E41-32FF-F7C58128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Super Wideband (SWB) Spectrum: </a:t>
            </a:r>
            <a:r>
              <a:rPr b="0" sz="1300">
                <a:solidFill>
                  <a:srgbClr val="FFFFFF"/>
                </a:solidFill>
                <a:latin typeface="Calibri"/>
              </a:rPr>
              <a:t>Design and simulate an end-fire traveling-wave Vivaldi antenna spanning 3.0 to 18.0 GHz (6:1 bandwidth ratio) for radar and EW direction finding.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Ultra-Compact Planar Footprint: </a:t>
            </a:r>
            <a:r>
              <a:rPr b="0" sz="1300">
                <a:solidFill>
                  <a:srgbClr val="FFFFFF"/>
                </a:solidFill>
                <a:latin typeface="Calibri"/>
              </a:rPr>
              <a:t>Synthesize single-layer CPW technology on Rogers RT6035HTC laminate (50.00 x 98.08 x 0.508 mm³), achieving 32% size reduction.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Parasitic Impedance Matching: </a:t>
            </a:r>
            <a:r>
              <a:rPr b="0" sz="1300">
                <a:solidFill>
                  <a:srgbClr val="FFFFFF"/>
                </a:solidFill>
                <a:latin typeface="Calibri"/>
              </a:rPr>
              <a:t>Integrate 4 wide curved ground slits and 2 center circular tuning slots to suppress reflections and maintain S11 &lt; -10 dB.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Conformal Aerodynamic Modeling: </a:t>
            </a:r>
            <a:r>
              <a:rPr b="0" sz="1300">
                <a:solidFill>
                  <a:srgbClr val="FFFFFF"/>
                </a:solidFill>
                <a:latin typeface="Calibri"/>
              </a:rPr>
              <a:t>Model real-time aeronautical impairments on curved UAV mockups (D = 23, 27, 30 cm) for phase distortion, mechanical strain, and mutual coupling.</a:t>
            </a:r>
          </a:p>
        </p:txBody>
      </p:sp>
      <p:pic>
        <p:nvPicPr>
          <p:cNvPr id="10" name="Picture 9" descr="Fig1_Antenna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2443942" cy="4480560"/>
          </a:xfrm>
          <a:prstGeom prst="rect">
            <a:avLst/>
          </a:prstGeom>
        </p:spPr>
      </p:pic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63B6-1153-8DD1-C905-35C2D5B9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9D95-C2C5-D780-712E-0CC2E62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Introduction &amp; Problem Motivation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435FA6-E2C3-7EA0-A765-AE40A576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589653"/>
            <a:ext cx="6611668" cy="4525963"/>
          </a:xfrm>
        </p:spPr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E306A-1C8D-5229-9F36-71E760A01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5/21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3828E-05C2-CAE0-CD2F-600B709A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Airborne Seeker Constraints: </a:t>
            </a:r>
            <a:r>
              <a:rPr b="0" sz="1300">
                <a:solidFill>
                  <a:srgbClr val="FFFFFF"/>
                </a:solidFill>
                <a:latin typeface="Calibri"/>
              </a:rPr>
              <a:t>Conventional horn and LPDA antennas are bulky, heavy, and introduce severe aerodynamic drag on missile seeker heads and compact UAVs.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Spiral &amp; Sinuous Limitations: </a:t>
            </a:r>
            <a:r>
              <a:rPr b="0" sz="1300">
                <a:solidFill>
                  <a:srgbClr val="FFFFFF"/>
                </a:solidFill>
                <a:latin typeface="Calibri"/>
              </a:rPr>
              <a:t>Bidirectional radiation requires lossy absorber cavities, which degrade radiation efficiency and antenna gain to under 50%.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Single-Layer CPW Advantage: </a:t>
            </a:r>
            <a:r>
              <a:rPr b="0" sz="1300">
                <a:solidFill>
                  <a:srgbClr val="FFFFFF"/>
                </a:solidFill>
                <a:latin typeface="Calibri"/>
              </a:rPr>
              <a:t>CPW feeding eliminates complex through-hole via drilling and backside alignment errors, drastically simplifying PCB manufacturing.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Aerodynamic Stealth Integration: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Conforming the antenna flush with curved composite airframes preserves aircraft aerodynamics while maintaining low radar cross-section (RCS).</a:t>
            </a:r>
          </a:p>
        </p:txBody>
      </p:sp>
    </p:spTree>
    <p:extLst>
      <p:ext uri="{BB962C8B-B14F-4D97-AF65-F5344CB8AC3E}">
        <p14:creationId xmlns:p14="http://schemas.microsoft.com/office/powerpoint/2010/main" val="1239470173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DB531-845E-E843-8855-9F4437DC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00D0-3F72-BA5E-A39B-823FF8C9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3600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Literature Review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7632175"/>
      </p:ext>
    </p:extLst>
  </p:cSld>
  <p:clrMapOvr>
    <a:masterClrMapping/>
  </p:clrMapOvr>
  <p:transition advClick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2EFFE5-2C87-0072-F4CA-9ACA7884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8090-E1B5-0D4F-1E22-66FE7DA1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Literature Review &amp; Theoretical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69FC-6F4F-238B-0263-5167B8E0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C0215-21F8-F083-BAD5-391DBA83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7/21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F82A1-1C62-8185-948D-9A78E665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Gibson's Vivaldi Concept (1979): </a:t>
            </a:r>
            <a:r>
              <a:rPr b="0" sz="1300">
                <a:solidFill>
                  <a:srgbClr val="FFFFFF"/>
                </a:solidFill>
                <a:latin typeface="Calibri"/>
              </a:rPr>
              <a:t>Pioneered the tapered slot antenna utilizing traveling-wave propagation to achieve theoretically unlimited multi-octave bandwidth.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Substrate Miniaturization Theory: </a:t>
            </a:r>
            <a:r>
              <a:rPr b="0" sz="1300">
                <a:solidFill>
                  <a:srgbClr val="FFFFFF"/>
                </a:solidFill>
                <a:latin typeface="Calibri"/>
              </a:rPr>
              <a:t>Higher permittivity dielectric laminates compress the guided wavelength (λg = c / [f√εeff]), enabling ultra-compact microwave layouts.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Parasitic Slit &amp; Slot Loading: </a:t>
            </a:r>
            <a:r>
              <a:rPr b="0" sz="1300">
                <a:solidFill>
                  <a:srgbClr val="FFFFFF"/>
                </a:solidFill>
                <a:latin typeface="Calibri"/>
              </a:rPr>
              <a:t>Ground plane corrugations and circular slot resonators perturb surface current distribution, extending low-frequency matching and suppressing cross-polarization.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Conformal Array Integration: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Recent IEEE MAPCON 2025 research proves flexible Rogers laminates enable aerodynamic flush mounting on cylindrical UAV fuselages.</a:t>
            </a:r>
          </a:p>
        </p:txBody>
      </p:sp>
    </p:spTree>
    <p:extLst>
      <p:ext uri="{BB962C8B-B14F-4D97-AF65-F5344CB8AC3E}">
        <p14:creationId xmlns:p14="http://schemas.microsoft.com/office/powerpoint/2010/main" val="2468862741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3600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Methodology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956606"/>
      </p:ext>
    </p:extLst>
  </p:cSld>
  <p:clrMapOvr>
    <a:masterClrMapping/>
  </p:clrMapOvr>
  <p:transition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2265-6460-D387-F5E6-4BFE98C5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B6DE-43D7-2599-834E-EAD234E8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Substrate &amp; Exponential Flare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C3234-130D-B26B-F235-4D1B1A4B8D1A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2210-99DB-7634-963C-B1900E93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9/21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182B-5C92-C173-34E0-32DA52D3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Rogers RT6035HTC Substrate: </a:t>
            </a:r>
            <a:r>
              <a:rPr b="0" sz="1300">
                <a:solidFill>
                  <a:srgbClr val="FFFFFF"/>
                </a:solidFill>
                <a:latin typeface="Calibri"/>
              </a:rPr>
              <a:t>Selected for high thermal conductivity (1.44 W/m/K), dielectric constant εr = 3.60, loss tangent tanδ = 0.0023, and thickness h = 0.508 mm (20 mil).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Wavelength Compression (32% Size Cut): </a:t>
            </a:r>
            <a:r>
              <a:rPr b="0" sz="1300">
                <a:solidFill>
                  <a:srgbClr val="FFFFFF"/>
                </a:solidFill>
                <a:latin typeface="Calibri"/>
              </a:rPr>
              <a:t>Higher permittivity compresses guided wavelength, shrinking the footprint from 60x120 mm² (RT5880) to 50x98.08 mm².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Exponential Flare Equation: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Aperture curve follows y(x) = C1 * exp(R * x) + C2 with opening rate R = 0.16 mm⁻¹, C1 = -0.6657 mm, and C2 = 28.7327 mm.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Aperture &amp; Throat Boundaries: </a:t>
            </a:r>
            <a:r>
              <a:rPr b="0" sz="1300">
                <a:solidFill>
                  <a:srgbClr val="FFFFFF"/>
                </a:solidFill>
                <a:latin typeface="Calibri"/>
              </a:rPr>
              <a:t>Mouth opening width is 2*x1 = 47.0 mm at Y = 0 mm, flaring from center slotline width W_slot = 1.20 mm (x0 = 0.60 mm).</a:t>
            </a:r>
          </a:p>
        </p:txBody>
      </p:sp>
      <p:pic>
        <p:nvPicPr>
          <p:cNvPr id="8" name="Picture 7" descr="Fig2_Optimized_1to1_CAD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2443942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6858"/>
      </p:ext>
    </p:extLst>
  </p:cSld>
  <p:clrMapOvr>
    <a:masterClrMapping/>
  </p:clrMapOvr>
  <p:transition advClick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2E0B-9C15-EA4C-4FB3-9084ABBC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D775-6B23-6A02-B04D-C7B9AFE6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CPW Feed Line &amp; Impedance Matching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B76C8-DA6B-59A1-E8A9-5CA131AE1C18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E448C-BB85-D181-391C-256DB3899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10/21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37952-75E1-07C4-5014-DDD8A750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Quasi-Static 50-Ohm Matching: </a:t>
            </a:r>
            <a:r>
              <a:rPr b="0" sz="1300">
                <a:solidFill>
                  <a:srgbClr val="FFFFFF"/>
                </a:solidFill>
                <a:latin typeface="Calibri"/>
              </a:rPr>
              <a:t>Synthesized CPW strip width Mw = 1.80 mm and ground gap g = 0.50 mm, achieving exact characteristic impedance Z0,cpw = 50.19 Ohms on RT6035HTC.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Step Discontinuity Elimination: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L-shaped horizontal CPW arm transitions smoothly across the 1.2 mm slotline, eliminating inductive step mismatches.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P2 Back-Cavity Fillet: </a:t>
            </a:r>
            <a:r>
              <a:rPr b="0" sz="1300">
                <a:solidFill>
                  <a:srgbClr val="FFFFFF"/>
                </a:solidFill>
                <a:latin typeface="Calibri"/>
              </a:rPr>
              <a:t>Smooth convex fillet (R = 5.5 mm) flaring to Y = 98.08 mm prevents open-stub reactive reflections without cutting large resonant cavity holes.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Waveguide Port Excitation: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Single-mode TE/quasi-TEM waveguide port calibrated flush at Y = 98.08 mm with expanded open boundary conditions in CST.</a:t>
            </a:r>
          </a:p>
        </p:txBody>
      </p:sp>
    </p:spTree>
    <p:extLst>
      <p:ext uri="{BB962C8B-B14F-4D97-AF65-F5344CB8AC3E}">
        <p14:creationId xmlns:p14="http://schemas.microsoft.com/office/powerpoint/2010/main" val="4235264291"/>
      </p:ext>
    </p:extLst>
  </p:cSld>
  <p:clrMapOvr>
    <a:masterClrMapping/>
  </p:clrMapOvr>
  <p:transition advClick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E8E-F03C-2570-2FDA-6D4EC677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D192-DF72-46E9-DD85-A16AF13C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Model 1 &amp; Model 2 Failure 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8D8C-B909-FA49-9AEB-2047EA7AF120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5437-83B9-364F-2C01-78429ED0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11/21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DA304-EE74-CABE-256C-2AEDDE61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1 (Microstrip on RT5880): </a:t>
            </a:r>
            <a:r>
              <a:rPr b="0" sz="1300">
                <a:solidFill>
                  <a:srgbClr val="FFFFFF"/>
                </a:solidFill>
                <a:latin typeface="Calibri"/>
              </a:rPr>
              <a:t>Double-sided microstrip-to-slotline transition on low-permittivity Rogers RT5880 (εr = 2.2); required oversized footprint (60x120 mm²).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1 Failure Mode: </a:t>
            </a:r>
            <a:r>
              <a:rPr b="0" sz="1300">
                <a:solidFill>
                  <a:srgbClr val="FFFFFF"/>
                </a:solidFill>
                <a:latin typeface="Calibri"/>
              </a:rPr>
              <a:t>Through-hole via grounded directly to the front copper sheet, creating a DC/RF short circuit and severe reflection (S11 ≈ -0.5 dB).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2 (CPW on RT6035HTC): </a:t>
            </a:r>
            <a:r>
              <a:rPr b="0" sz="1300">
                <a:solidFill>
                  <a:srgbClr val="FFFFFF"/>
                </a:solidFill>
                <a:latin typeface="Calibri"/>
              </a:rPr>
              <a:t>Migrated to single-layer CPW with nominal strip width Mw = 4.0 mm and gap g = 0.5 mm on Rogers RT6035HTC (50x98.08 mm²).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2 Failure Mode: </a:t>
            </a:r>
            <a:r>
              <a:rPr b="0" sz="1300">
                <a:solidFill>
                  <a:srgbClr val="FFFFFF"/>
                </a:solidFill>
                <a:latin typeface="Calibri"/>
              </a:rPr>
              <a:t>Line impedance was only Z0 = 33.73 Ohms; 50-Ohm port mismatch generated periodic standing-wave reflection ripples rising to -3 dB.</a:t>
            </a:r>
          </a:p>
        </p:txBody>
      </p:sp>
      <p:pic>
        <p:nvPicPr>
          <p:cNvPr id="8" name="Picture 7" descr="Model1_Microstrip_Duroid5880_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754880" cy="47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34142"/>
      </p:ext>
    </p:extLst>
  </p:cSld>
  <p:clrMapOvr>
    <a:masterClrMapping/>
  </p:clrMapOvr>
  <p:transition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F8DA-88CA-D8CA-7281-E8C0C1B9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B23D-2481-A0B5-54D5-495404EC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Model 3 Cavity Defect &amp; Model 4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7C0E6-A599-CB74-E9F3-601680F8FCB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9B0F-53A6-05A1-971A-D9403C0F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12/21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4CBCE-A6A2-2422-8E76-86428E06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3 (Cavity-Hole Defect): </a:t>
            </a:r>
            <a:r>
              <a:rPr b="0" sz="1300">
                <a:solidFill>
                  <a:srgbClr val="FFFFFF"/>
                </a:solidFill>
                <a:latin typeface="Calibri"/>
              </a:rPr>
              <a:t>Over-etched circular hole at P2 created an open-circuited stub (L_stub ≈ 18 mm), generating destructive phase cancellation ripples every 1.25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Model 4 (Solid Upper Wings &amp; P2 Fillet): </a:t>
            </a:r>
            <a:r>
              <a:rPr b="0" sz="1300">
                <a:solidFill>
                  <a:srgbClr val="FFFFFF"/>
                </a:solidFill>
                <a:latin typeface="Calibri"/>
              </a:rPr>
              <a:t>Restored solid copper upper wings and smooth convex fillet (R = 5.5 mm), completely eliminating standing-wave ripples.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Parasitic Curved Ground Slits: </a:t>
            </a:r>
            <a:r>
              <a:rPr b="0" sz="1300">
                <a:solidFill>
                  <a:srgbClr val="FFFFFF"/>
                </a:solidFill>
                <a:latin typeface="Calibri"/>
              </a:rPr>
              <a:t>Integrated 4 wide curved side slits (Y = 18 mm, 40 mm) to lengthen surface current trajectories and improve intermediate frequency matching.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High-Frequency Tuning Slots: </a:t>
            </a:r>
            <a:r>
              <a:rPr b="0" sz="1300">
                <a:solidFill>
                  <a:srgbClr val="FFFFFF"/>
                </a:solidFill>
                <a:latin typeface="Calibri"/>
              </a:rPr>
              <a:t>Added 2 circular tuning slots (R = 1.8 mm) at Y = 55 mm and 47 mm to suppress higher-order cross-polarization and mode distortion.</a:t>
            </a:r>
          </a:p>
        </p:txBody>
      </p:sp>
      <p:pic>
        <p:nvPicPr>
          <p:cNvPr id="8" name="Picture 7" descr="Model4_Fig1_Rebuilt_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4572000" cy="518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6684"/>
      </p:ext>
    </p:extLst>
  </p:cSld>
  <p:clrMapOvr>
    <a:masterClrMapping/>
  </p:clrMapOvr>
  <p:transition advClick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D0B3-7EFB-D6E9-1D2E-8E783FC3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396-7ACD-7D15-4603-39A799B8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Conformal Array Mapping on UAV Fuselages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79D07-E41F-83DB-9506-E52206C6ED6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1E00-49C7-B4E3-8910-572390AFC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13/21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8E00B-7BA9-9558-8FAA-A82C6A01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Cylindrical Conformal Integration: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Element conformed onto curved UAV fuselages and missile bodies of diameters D = 23 cm, 27 cm, and 30 cm using cylindrical mapping.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Analytical Coordinate Transformation: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Planar Cartesian points mapped to cylinder: x' = Rc*sin(x/Rc), z' = Rc*(1 - cos(x/Rc)), where Rc = D/2.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Mechanical Bending Strain (0.22%): </a:t>
            </a:r>
            <a:r>
              <a:rPr b="0" sz="1300">
                <a:solidFill>
                  <a:srgbClr val="FFFFFF"/>
                </a:solidFill>
                <a:latin typeface="Calibri"/>
              </a:rPr>
              <a:t>Max strain ε_bend = h/(2*Rc) = 0.508/(2*115) = 0.221% is far below the 1.5% plastic yield limit, ensuring zero fatigue.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Aerodynamic Drag Elimination: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Flush conformal mounting eliminates parasite drag and maintains aircraft stealth radar cross-section (RCS).</a:t>
            </a:r>
          </a:p>
        </p:txBody>
      </p:sp>
    </p:spTree>
    <p:extLst>
      <p:ext uri="{BB962C8B-B14F-4D97-AF65-F5344CB8AC3E}">
        <p14:creationId xmlns:p14="http://schemas.microsoft.com/office/powerpoint/2010/main" val="2913733671"/>
      </p:ext>
    </p:extLst>
  </p:cSld>
  <p:clrMapOvr>
    <a:masterClrMapping/>
  </p:clrMapOvr>
  <p:transition advClick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FA9-BBD9-2C4D-4014-7A6A50B2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7647-B48F-6A77-5464-CD1B8BC3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3600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Results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95612"/>
      </p:ext>
    </p:extLst>
  </p:cSld>
  <p:clrMapOvr>
    <a:masterClrMapping/>
  </p:clrMapOvr>
  <p:transition advClick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7BA8-D893-5E15-A62B-7BA0C20C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77BD-D356-0009-2008-37C3F4D3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S11 Return Loss &amp; Bandwidth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CAC68-27EF-84A7-1A9C-8C87B5BCCF36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9B5CB-1936-C405-85A1-2EF40559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15/21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8B3C-E040-27FF-4DD2-45BC5432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Super Wideband 3–18 GHz Coverage: </a:t>
            </a:r>
            <a:r>
              <a:rPr b="0" sz="1300">
                <a:solidFill>
                  <a:srgbClr val="FFFFFF"/>
                </a:solidFill>
                <a:latin typeface="Calibri"/>
              </a:rPr>
              <a:t>Simulated return loss remains strictly below -10 dB across the entire 3.0 to 18.0 GHz band, establishing a continuous 6:1 bandwidth.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Deep Resonance Nulls: </a:t>
            </a:r>
            <a:r>
              <a:rPr b="0" sz="1300">
                <a:solidFill>
                  <a:srgbClr val="FFFFFF"/>
                </a:solidFill>
                <a:latin typeface="Calibri"/>
              </a:rPr>
              <a:t>Exhibits exceptional impedance matching dips reaching -42.1 dB at 5.5 GHz, -28.6 dB at 7.0 GHz, -29.4 dB at 9.3 GHz, and -30.5 dB at 13.7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Mid-Band Reflection Suppression: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Parasitic curved side slits successfully eliminate intermediate frequency reflection humps between 6 and 12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High-Frequency Return Loss Stability: </a:t>
            </a:r>
            <a:r>
              <a:rPr b="0" sz="1300">
                <a:solidFill>
                  <a:srgbClr val="FFFFFF"/>
                </a:solidFill>
                <a:latin typeface="Calibri"/>
              </a:rPr>
              <a:t>Circular tuning slots maintain S11 &lt; -17 dB at 18.0 GHz, validating end-fire traveling-wave radiation mode.</a:t>
            </a:r>
          </a:p>
        </p:txBody>
      </p:sp>
      <p:pic>
        <p:nvPicPr>
          <p:cNvPr id="8" name="Picture 7" descr="Model4_Final_Optimized_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4754880" cy="161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73679"/>
      </p:ext>
    </p:extLst>
  </p:cSld>
  <p:clrMapOvr>
    <a:masterClrMapping/>
  </p:clrMapOvr>
  <p:transition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80C9-0110-B2C4-4D78-F5498A78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F01-68C2-2BA3-E23D-31FAD6DD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Radiation Patterns &amp; Directivity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A08A3-2409-429A-7BDC-A22722A2658D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22F4-CE7B-6C8B-D838-D7167ED7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16/21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78CFB-6282-FAFB-4ED1-D4AEAD56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End-Fire Directional Radiation: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Main beam directed strictly toward the flaring aperture (+Y axis) across all frequencies from 3 to 18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Peak Realized Gain Evolution: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Realized gain scales smoothly from 4.2 dBi at 3.0 GHz, 6.8 dBi at 9.0 GHz, to 9.5 dBi at 18.0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Symmetric E-Plane &amp; H-Plane Cuts: </a:t>
            </a:r>
            <a:r>
              <a:rPr b="0" sz="1300">
                <a:solidFill>
                  <a:srgbClr val="FFFFFF"/>
                </a:solidFill>
                <a:latin typeface="Calibri"/>
              </a:rPr>
              <a:t>Maintains stable beamwidth with cross-polarization discrimination exceeding 18 dB along the boresight.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Front-to-Back Ratio (&gt; 15 dB): </a:t>
            </a:r>
            <a:r>
              <a:rPr b="0" sz="1300">
                <a:solidFill>
                  <a:srgbClr val="FFFFFF"/>
                </a:solidFill>
                <a:latin typeface="Calibri"/>
              </a:rPr>
              <a:t>Solid copper wings and optimized exponential profile suppress back-lobe radiation, maximizing forward directivity.</a:t>
            </a:r>
          </a:p>
        </p:txBody>
      </p:sp>
    </p:spTree>
    <p:extLst>
      <p:ext uri="{BB962C8B-B14F-4D97-AF65-F5344CB8AC3E}">
        <p14:creationId xmlns:p14="http://schemas.microsoft.com/office/powerpoint/2010/main" val="2762114960"/>
      </p:ext>
    </p:extLst>
  </p:cSld>
  <p:clrMapOvr>
    <a:masterClrMapping/>
  </p:clrMapOvr>
  <p:transition advClick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A9A-4690-BBF2-3A11-337AE256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9D75-ADBB-B564-A3BD-5D217662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Conformal S11 &amp; 4x1 Array Mutual 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20AD0-2C21-2C21-CEAD-C27C6CEC646E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F78F-3527-FBD0-E172-6CEA8D98D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17/21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5DEC6-7C4D-83D4-02F6-07F0B394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Conformal Bandwidth Retention: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S11 remains below -10 dB across 3–18 GHz under all cylindrical diameters (D = 23, 27, 30 cm) with minor 1.5% to 4.5% downward resonance tuning.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Curvature-Induced Mutual Coupling Suppression: </a:t>
            </a:r>
            <a:r>
              <a:rPr b="0" sz="1300">
                <a:solidFill>
                  <a:srgbClr val="FFFFFF"/>
                </a:solidFill>
                <a:latin typeface="Calibri"/>
              </a:rPr>
              <a:t>Adjacent element normal vectors diverge by Δα ≈ 12.5°, naturally suppressing spatial cross-talk by 2.5 to 4.0 dB.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Inter-Element Isolation (S21 &lt; -18 dB): </a:t>
            </a:r>
            <a:r>
              <a:rPr b="0" sz="1300">
                <a:solidFill>
                  <a:srgbClr val="FFFFFF"/>
                </a:solidFill>
                <a:latin typeface="Calibri"/>
              </a:rPr>
              <a:t>Mutual coupling S21 remains below -18 dB across the full 3–18 GHz band, exceeding standard -15 dB isolation benchmarks.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High Direction-Finding Accuracy: </a:t>
            </a:r>
            <a:r>
              <a:rPr b="0" sz="1300">
                <a:solidFill>
                  <a:srgbClr val="FFFFFF"/>
                </a:solidFill>
                <a:latin typeface="Calibri"/>
              </a:rPr>
              <a:t>Low mutual coupling prevents scan blindness and ensures high Angle-of-Arrival (AoA) estimation precision for EW receivers.</a:t>
            </a:r>
          </a:p>
        </p:txBody>
      </p:sp>
      <p:pic>
        <p:nvPicPr>
          <p:cNvPr id="8" name="Picture 7" descr="Fig5_Conformal_S1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47548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54995"/>
      </p:ext>
    </p:extLst>
  </p:cSld>
  <p:clrMapOvr>
    <a:masterClrMapping/>
  </p:clrMapOvr>
  <p:transition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3600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Conclusion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02980"/>
      </p:ext>
    </p:extLst>
  </p:cSld>
  <p:clrMapOvr>
    <a:masterClrMapping/>
  </p:clrMapOvr>
  <p:transition advClick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CB8C-6F97-CF89-A883-E4C04E60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Conclusion &amp; Future Research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1E9D-D718-7814-0FE9-075DC1C1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057401"/>
            <a:ext cx="10464800" cy="2463799"/>
          </a:xfrm>
        </p:spPr>
        <p:txBody>
          <a:bodyPr/>
          <a:lstStyle/>
          <a:p/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ACB1A-4C0F-AFDD-F558-7CB2B284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19/21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C6F5F-20DB-F657-29A1-EAA1936F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Super Wideband (3–18 GHz) Success: </a:t>
            </a:r>
            <a:r>
              <a:rPr b="0" sz="1300">
                <a:solidFill>
                  <a:srgbClr val="FFFFFF"/>
                </a:solidFill>
                <a:latin typeface="Calibri"/>
              </a:rPr>
              <a:t>Successfully designed and validated a single-layer CPW Vivaldi antenna achieving continuous S11 &lt; -10 dB across a 6:1 bandwidth ratio.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32% Miniaturization on Rogers RT6035HTC: </a:t>
            </a:r>
            <a:r>
              <a:rPr b="0" sz="1300">
                <a:solidFill>
                  <a:srgbClr val="FFFFFF"/>
                </a:solidFill>
                <a:latin typeface="Calibri"/>
              </a:rPr>
              <a:t>Permittivity compression on thin 20 mil laminate enabled an ultra-compact 50.00 x 98.08 x 0.508 mm³ envelope ideal for dense UAV payloads.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Systematic Failure-Mode Diagnostics: </a:t>
            </a:r>
            <a:r>
              <a:rPr b="0" sz="1300">
                <a:solidFill>
                  <a:srgbClr val="FFFFFF"/>
                </a:solidFill>
                <a:latin typeface="Calibri"/>
              </a:rPr>
              <a:t>Investigated and resolved microstrip via shorting, CPW line impedance mismatches, and back-cavity standing wave phase cancellation defects.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b="1" sz="1300">
                <a:solidFill>
                  <a:srgbClr val="FFC000"/>
                </a:solidFill>
                <a:latin typeface="Calibri"/>
              </a:rPr>
              <a:t>•  Robust Aeronautical Conformal Viability: </a:t>
            </a:r>
            <a:r>
              <a:rPr b="0" sz="1300">
                <a:solidFill>
                  <a:srgbClr val="FFFFFF"/>
                </a:solidFill>
                <a:latin typeface="Calibri"/>
              </a:rPr>
              <a:t>Validated performance across cylindrical UAV airframes (D = 23–30 cm), proving low mechanical strain (ε ≤ 0.22%) and enhanced isolation (S21 &lt; -18 dB).</a:t>
            </a:r>
          </a:p>
        </p:txBody>
      </p:sp>
    </p:spTree>
    <p:extLst>
      <p:ext uri="{BB962C8B-B14F-4D97-AF65-F5344CB8AC3E}">
        <p14:creationId xmlns:p14="http://schemas.microsoft.com/office/powerpoint/2010/main" val="1385089823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000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313185"/>
      </p:ext>
    </p:extLst>
  </p:cSld>
  <p:clrMapOvr>
    <a:masterClrMapping/>
  </p:clrMapOvr>
  <p:transition advClick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3600">
                <a:solidFill>
                  <a:srgbClr val="FFC000"/>
                </a:solidFill>
                <a:latin typeface="Arial"/>
              </a:defRPr>
            </a:pPr>
            <a:r>
              <a:rPr lang="en-US" sz="3600" dirty="0"/>
              <a:t>QUESTIONS?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8A82F-7990-BFE2-99EC-D9FE4E212A37}"/>
              </a:ext>
            </a:extLst>
          </p:cNvPr>
          <p:cNvSpPr txBox="1"/>
          <p:nvPr/>
        </p:nvSpPr>
        <p:spPr>
          <a:xfrm>
            <a:off x="6546851" y="6027003"/>
            <a:ext cx="5645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Abdul Muqtadir</a:t>
            </a:r>
          </a:p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CEP: Super Wideband Conformal Vivaldi Antenna for UAV/EW</a:t>
            </a:r>
          </a:p>
        </p:txBody>
      </p:sp>
    </p:spTree>
    <p:extLst>
      <p:ext uri="{BB962C8B-B14F-4D97-AF65-F5344CB8AC3E}">
        <p14:creationId xmlns:p14="http://schemas.microsoft.com/office/powerpoint/2010/main" val="2448890095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2C20E418A240A5C1431339DDA195" ma:contentTypeVersion="16" ma:contentTypeDescription="Create a new document." ma:contentTypeScope="" ma:versionID="291eef23fd7c2c98b41bfb4d9f17824b">
  <xsd:schema xmlns:xsd="http://www.w3.org/2001/XMLSchema" xmlns:xs="http://www.w3.org/2001/XMLSchema" xmlns:p="http://schemas.microsoft.com/office/2006/metadata/properties" xmlns:ns2="30c9249f-d813-433c-b61d-3a5604b33c8c" xmlns:ns3="c28e1103-0206-4002-a9ee-f80df76bf39b" targetNamespace="http://schemas.microsoft.com/office/2006/metadata/properties" ma:root="true" ma:fieldsID="abd46c31700a6ecb22347d34f96a4055" ns2:_="" ns3:_="">
    <xsd:import namespace="30c9249f-d813-433c-b61d-3a5604b33c8c"/>
    <xsd:import namespace="c28e1103-0206-4002-a9ee-f80df76bf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9249f-d813-433c-b61d-3a5604b33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e1103-0206-4002-a9ee-f80df76bf3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5e06508-a135-40f7-8523-22b55a50e414}" ma:internalName="TaxCatchAll" ma:showField="CatchAllData" ma:web="c28e1103-0206-4002-a9ee-f80df76bf3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B527A2-08D1-4664-8166-BD1FCC356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9249f-d813-433c-b61d-3a5604b33c8c"/>
    <ds:schemaRef ds:uri="c28e1103-0206-4002-a9ee-f80df76bf3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D7D1E1-B3D9-4BB5-9B73-4B191EB341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9887</TotalTime>
  <Words>239</Words>
  <Application>Microsoft Office PowerPoint</Application>
  <PresentationFormat>Widescreen</PresentationFormat>
  <Paragraphs>90</Paragraphs>
  <Slides>21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1_Office Theme</vt:lpstr>
      <vt:lpstr>Custom Design</vt:lpstr>
      <vt:lpstr>PowerPoint Presentation</vt:lpstr>
      <vt:lpstr>PowerPoint Presentation</vt:lpstr>
      <vt:lpstr>Sequence</vt:lpstr>
      <vt:lpstr>Project Aim</vt:lpstr>
      <vt:lpstr>Introduction</vt:lpstr>
      <vt:lpstr>Literature Review</vt:lpstr>
      <vt:lpstr>Literature Review</vt:lpstr>
      <vt:lpstr>Methodology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Results</vt:lpstr>
      <vt:lpstr>Conclusion</vt:lpstr>
      <vt:lpstr>Conclusion</vt:lpstr>
      <vt:lpstr>THANK YOU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QMAQ</dc:creator>
  <cp:lastModifiedBy>Ahmad Ghalib Alvi</cp:lastModifiedBy>
  <cp:revision>617</cp:revision>
  <dcterms:created xsi:type="dcterms:W3CDTF">2010-01-23T07:30:24Z</dcterms:created>
  <dcterms:modified xsi:type="dcterms:W3CDTF">2026-08-22T17:38:33Z</dcterms:modified>
</cp:coreProperties>
</file>