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50" r:id="rId3"/>
    <p:sldMasterId id="2147483700" r:id="rId4"/>
  </p:sldMasterIdLst>
  <p:notesMasterIdLst>
    <p:notesMasterId r:id="rId29"/>
  </p:notesMasterIdLst>
  <p:handoutMasterIdLst>
    <p:handoutMasterId r:id="rId30"/>
  </p:handoutMasterIdLst>
  <p:sldIdLst>
    <p:sldId id="688" r:id="rId5"/>
    <p:sldId id="423" r:id="rId6"/>
    <p:sldId id="804" r:id="rId7"/>
    <p:sldId id="512" r:id="rId8"/>
    <p:sldId id="777" r:id="rId9"/>
    <p:sldId id="746" r:id="rId10"/>
    <p:sldId id="809" r:id="rId11"/>
    <p:sldId id="810" r:id="rId12"/>
    <p:sldId id="811" r:id="rId13"/>
    <p:sldId id="815" r:id="rId14"/>
    <p:sldId id="816" r:id="rId15"/>
    <p:sldId id="817" r:id="rId16"/>
    <p:sldId id="818" r:id="rId17"/>
    <p:sldId id="782" r:id="rId18"/>
    <p:sldId id="805" r:id="rId19"/>
    <p:sldId id="812" r:id="rId20"/>
    <p:sldId id="813" r:id="rId21"/>
    <p:sldId id="823" r:id="rId22"/>
    <p:sldId id="756" r:id="rId23"/>
    <p:sldId id="731" r:id="rId24"/>
    <p:sldId id="821" r:id="rId25"/>
    <p:sldId id="822" r:id="rId26"/>
    <p:sldId id="788" r:id="rId27"/>
    <p:sldId id="763" r:id="rId2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87194322-BF36-401D-953E-2F6A9ABC4B43}">
          <p14:sldIdLst>
            <p14:sldId id="688"/>
            <p14:sldId id="423"/>
            <p14:sldId id="804"/>
            <p14:sldId id="512"/>
            <p14:sldId id="777"/>
            <p14:sldId id="746"/>
            <p14:sldId id="809"/>
            <p14:sldId id="810"/>
            <p14:sldId id="811"/>
            <p14:sldId id="815"/>
            <p14:sldId id="816"/>
            <p14:sldId id="817"/>
            <p14:sldId id="818"/>
            <p14:sldId id="782"/>
            <p14:sldId id="805"/>
            <p14:sldId id="812"/>
            <p14:sldId id="813"/>
            <p14:sldId id="823"/>
            <p14:sldId id="756"/>
            <p14:sldId id="731"/>
            <p14:sldId id="821"/>
            <p14:sldId id="822"/>
            <p14:sldId id="788"/>
            <p14:sldId id="7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AAC5"/>
    <a:srgbClr val="17375E"/>
    <a:srgbClr val="5C84CC"/>
    <a:srgbClr val="00B050"/>
    <a:srgbClr val="FFC000"/>
    <a:srgbClr val="AE7B05"/>
    <a:srgbClr val="E6E0EC"/>
    <a:srgbClr val="4BACC6"/>
    <a:srgbClr val="F79646"/>
    <a:srgbClr val="683C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7B657A-F79F-4261-8088-C1828CA1C4A8}" v="29" dt="2024-03-21T01:58:09.021"/>
    <p1510:client id="{C4F49B1B-666B-428E-8B95-C83A65D2B9AD}" v="2815" dt="2024-03-20T21:06:48.2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65" autoAdjust="0"/>
    <p:restoredTop sz="54215" autoAdjust="0"/>
  </p:normalViewPr>
  <p:slideViewPr>
    <p:cSldViewPr snapToGrid="0">
      <p:cViewPr varScale="1">
        <p:scale>
          <a:sx n="117" d="100"/>
          <a:sy n="117" d="100"/>
        </p:scale>
        <p:origin x="804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5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62"/>
    </p:cViewPr>
  </p:sorterViewPr>
  <p:notesViewPr>
    <p:cSldViewPr snapToGrid="0">
      <p:cViewPr>
        <p:scale>
          <a:sx n="1" d="2"/>
          <a:sy n="1" d="2"/>
        </p:scale>
        <p:origin x="3988" y="10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FD6CB-EBFB-41D6-99FE-037A4621161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DDA4B-8B5A-4946-89A2-A0ADC765D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3884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28AB33E-8ECE-47FD-9996-1CE0B0D340D4}" type="datetimeFigureOut">
              <a:rPr lang="en-US"/>
              <a:pPr>
                <a:defRPr/>
              </a:pPr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3F4497-A192-4A36-AF7A-D68AD47276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8302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19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EB52-B167-CE25-F328-7C42E78F9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F0967-8E53-A6FE-3ECE-816F1F743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C6C03-996E-1A8E-79A8-CE7954689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36F4C-27FD-4D5A-4AD3-C2C391864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54A09-5422-50F1-17B6-F2C9EA3B2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65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84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30380-162F-5EFF-A650-30AAF0AA2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7D160-4B80-8046-1484-7677500F4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176BE-1418-3C3F-6762-C1957CDC7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A8DC0-50B0-0CB5-F548-6136A59F1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66894-D3A5-70B6-03EB-859311AAF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66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15B45-3A60-B801-868F-6D1252BD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33155-6983-2EEE-04E8-5BCB4D686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0D37BC-0C25-1018-B3EA-77364C8CD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126B7-6ADC-3E51-D171-71DB562DA2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80CFE-3DE0-9404-C81B-E2B4D827D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98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4279E-BA30-16E8-B7FA-50FF5169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AEF31-EF96-7853-90F0-B99D2D82A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374CC-B62F-69C6-46F7-86378B39D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6EE88-07CC-0AB4-3DDE-CB073C4344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373C7-882B-FA80-7437-59BBD6D30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47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D94B0-1958-8B1F-9664-438F4573D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061B4-039A-D9F7-9C15-7D744993D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51590-ECA2-BECB-0A45-860077390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B01AE9-0846-F0AD-6D1B-525B0C7EE6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59F06-AF61-4D55-848D-DF82160CB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67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444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69F04-3282-85AC-7715-8E7697AA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92C44-F4CF-7B17-FF29-E202D0740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AA631-1741-E891-47E9-38840E6FE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A531A-9A41-3839-B210-125C62E98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348C0-6EC8-0A52-3917-1D1F10006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599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CD08-120B-162A-1223-E31D8C98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8AD66-9F52-BAEA-0D78-13F353BFC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967ED-80DB-2DFB-146A-C65A908B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D2AF8-01FA-950F-9D14-34C16F8AB4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20D0F-86BF-66BB-9F49-F63EC516E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50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02C9-A281-3A4C-1BFF-034EB009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F8F71-D5CA-0971-F277-D19CC7371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C61B3-51CC-EE3E-5C43-7C285A39E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716EB-0139-8D78-40B8-12BBBFB0CC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A996A-5221-A80E-8BB4-F408641A4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74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F1625-16F9-182A-27EE-F47ED8F7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52A6F-451C-73AD-DC84-65888C93F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4C4D4-7747-E0A2-E8C5-9A20D00EE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1DBEC-2E96-FE28-601D-7F760DA4E2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A2015-B359-BC79-DABB-422013BFA9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38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03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F095A6-EDF1-0DE7-3D81-FC44221760C8}"/>
              </a:ext>
            </a:extLst>
          </p:cNvPr>
          <p:cNvSpPr/>
          <p:nvPr userDrawn="1"/>
        </p:nvSpPr>
        <p:spPr>
          <a:xfrm>
            <a:off x="0" y="6392865"/>
            <a:ext cx="12192000" cy="46513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1600201"/>
            <a:ext cx="10464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9199291" y="6444388"/>
            <a:ext cx="2844800" cy="365125"/>
          </a:xfrm>
        </p:spPr>
        <p:txBody>
          <a:bodyPr/>
          <a:lstStyle>
            <a:lvl1pPr algn="r">
              <a:defRPr sz="1400" b="0"/>
            </a:lvl1pPr>
          </a:lstStyle>
          <a:p>
            <a:pPr>
              <a:defRPr/>
            </a:pPr>
            <a:fld id="{3C7A04D2-60CF-4814-B4CA-934AD53FD058}" type="datetime5">
              <a:rPr lang="en-US" smtClean="0"/>
              <a:t>28-Aug-26</a:t>
            </a:fld>
            <a:endParaRPr lang="en-US" b="0" dirty="0"/>
          </a:p>
        </p:txBody>
      </p: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320800" y="1371600"/>
            <a:ext cx="10871200" cy="0"/>
          </a:xfrm>
          <a:prstGeom prst="line">
            <a:avLst/>
          </a:prstGeom>
          <a:ln w="57150">
            <a:solidFill>
              <a:srgbClr val="FA8C29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24891" y="465135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tx1">
                    <a:tint val="75000"/>
                  </a:scheme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pic>
        <p:nvPicPr>
          <p:cNvPr id="4" name="Picture 3" descr="220px-CAE.png">
            <a:extLst>
              <a:ext uri="{FF2B5EF4-FFF2-40B4-BE49-F238E27FC236}">
                <a16:creationId xmlns:a16="http://schemas.microsoft.com/office/drawing/2014/main" id="{AFB4D32E-2420-DC34-1D75-AA021D3702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7909" y="38295"/>
            <a:ext cx="1052061" cy="13870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EC2C1B-3742-927C-D5B7-A2B5B456765C}"/>
              </a:ext>
            </a:extLst>
          </p:cNvPr>
          <p:cNvSpPr txBox="1"/>
          <p:nvPr userDrawn="1"/>
        </p:nvSpPr>
        <p:spPr>
          <a:xfrm>
            <a:off x="147909" y="6461852"/>
            <a:ext cx="2671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Group 1</a:t>
            </a:r>
            <a:endParaRPr lang="en-PK" sz="1400" b="0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0BBDDC-90CC-991C-1DBD-847EF7E82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4890" y="6434319"/>
            <a:ext cx="8182220" cy="375194"/>
          </a:xfr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97989-EF31-2F75-85C3-49020F718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154" y="2857500"/>
            <a:ext cx="7029692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pic>
        <p:nvPicPr>
          <p:cNvPr id="6" name="Picture 5" descr="220px-CAE.png">
            <a:extLst>
              <a:ext uri="{FF2B5EF4-FFF2-40B4-BE49-F238E27FC236}">
                <a16:creationId xmlns:a16="http://schemas.microsoft.com/office/drawing/2014/main" id="{F14E2A48-4A29-7006-1D24-ECF0F1E430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-763928" y="2120376"/>
            <a:ext cx="3881376" cy="5117380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</a:effectLst>
        </p:spPr>
      </p:pic>
      <p:sp>
        <p:nvSpPr>
          <p:cNvPr id="20" name="TextBox 20"/>
          <p:cNvSpPr txBox="1"/>
          <p:nvPr userDrawn="1"/>
        </p:nvSpPr>
        <p:spPr>
          <a:xfrm>
            <a:off x="147909" y="6461852"/>
            <a:ext cx="2671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FFFFFF"/>
                </a:solidFill>
                <a:latin typeface="Arial"/>
                <a:cs typeface="Arial"/>
              </a:rPr>
              <a:t>Group 1</a:t>
            </a:r>
          </a:p>
        </p:txBody>
      </p:sp>
    </p:spTree>
    <p:extLst>
      <p:ext uri="{BB962C8B-B14F-4D97-AF65-F5344CB8AC3E}">
        <p14:creationId xmlns:p14="http://schemas.microsoft.com/office/powerpoint/2010/main" val="397633740"/>
      </p:ext>
    </p:extLst>
  </p:cSld>
  <p:clrMapOvr>
    <a:masterClrMapping/>
  </p:clrMapOvr>
  <p:transition advClick="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90C87-FECE-9AE2-B4EF-EE32BEB89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916310-3880-D54C-8A99-A6319B28F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B400C-AF10-B06F-BE6C-C2AC699E8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89846-2EFF-45C9-83BC-B2C3530FCCF4}" type="datetime5">
              <a:rPr lang="en-US" smtClean="0"/>
              <a:t>28-Aug-26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C14FE-FF8D-9148-0873-7130A691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Two-Wheeled Inverted Pendulum Self-Balancing Robot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A38D5-C0A2-3573-4209-80D2027D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6015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471B-1176-1169-28C2-5A2FEC2E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86990-E7FF-7A3F-3EAF-4AB1AE077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9EF92-EE40-0876-AE19-E4DA63982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FC91-3BAA-4E68-BC32-4398403AE6BE}" type="datetime5">
              <a:rPr lang="en-US" smtClean="0"/>
              <a:t>28-Aug-26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C1210-3584-FA97-5E59-92DF38082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Two-Wheeled Inverted Pendulum Self-Balancing Robot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CB4D0-92B6-2E7F-6317-C4B7C9618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8229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A5A6-8C14-BEC8-C4F9-C0B4577D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D3597-C805-B3FB-E9DA-5ADD19E3D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9C19B-1F84-B3A8-BE2C-B9A41622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3256A-66FD-4E21-A33F-03CCB3964FF7}" type="datetime5">
              <a:rPr lang="en-US" smtClean="0"/>
              <a:t>28-Aug-26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0B166-9D9A-7909-F6F0-A44920487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Two-Wheeled Inverted Pendulum Self-Balancing Robot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9FF28-530D-C87D-048B-DDC66028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9992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02A78-DC2B-4E45-75C7-6C7BA361E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D1A05-4F71-5F51-F69B-1B43C0D7F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ECFA2-676F-6435-249D-95BA210A3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9B354-CDC5-D4B1-2162-452BB744F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8528-B258-460F-8547-7FC2A34E342F}" type="datetime5">
              <a:rPr lang="en-US" smtClean="0"/>
              <a:t>28-Aug-26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17CA0-F152-9792-3358-146B30181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Two-Wheeled Inverted Pendulum Self-Balancing Robot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F5548-2143-0DCA-1E76-99D4D8E1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269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973F-5D29-D643-62B9-B9B64E2C2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DD76D-F02B-3CF1-0DC9-101C17941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8803B-4A02-BF1D-7412-D178A6AB4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12ACAC-6F89-0683-9E1B-E088AE244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CF958-B54A-B20E-DAFB-8CC969094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C021AC-FAFE-18A5-69DF-462DAB6CB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22EEA-C719-4935-84AD-C968AE22C73F}" type="datetime5">
              <a:rPr lang="en-US" smtClean="0"/>
              <a:t>28-Aug-26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E59A1-4041-5B3B-6A95-F319BE281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Two-Wheeled Inverted Pendulum Self-Balancing Robot</a:t>
            </a:r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A14F64-63F2-CA0F-6ADD-63E9EDE1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006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4B5D-A0DE-DEE1-FB07-E6CB1B491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51A1E4-7BAD-8857-6B18-C36E5519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C20B-DB8D-4D3B-B21C-61FD478AE6B5}" type="datetime5">
              <a:rPr lang="en-US" smtClean="0"/>
              <a:t>28-Aug-26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87D42D-C446-8C4F-760A-C9D696F6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Two-Wheeled Inverted Pendulum Self-Balancing Robot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5B326-9749-6F7C-ABC8-F0CD4779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7938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6BE930-40DD-714E-1741-E0219CA7E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5DBE-0259-4CFE-B736-F0DC49BB924F}" type="datetime5">
              <a:rPr lang="en-US" smtClean="0"/>
              <a:t>28-Aug-26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1BD79-8D58-FE43-7001-83ED9695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Two-Wheeled Inverted Pendulum Self-Balancing Robot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FF154-69A3-7627-AFB3-5A31F106F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982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6D80-A49F-EA1C-A87D-23BC33C3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C3A0B-0E07-9068-469B-1793FD5A3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69728-D06E-FC34-BA50-9045F60E8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F407F-6804-51C3-C1BF-78ACE5F7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3A0C-0470-46FC-8793-E93267C4B1CC}" type="datetime5">
              <a:rPr lang="en-US" smtClean="0"/>
              <a:t>28-Aug-26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8FB-A719-C871-2688-F13D2A87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Two-Wheeled Inverted Pendulum Self-Balancing Robot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FE64C-C1BF-6138-79AF-CE9EF1BA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078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DB5D-7962-1D62-F4F8-E88300827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A6D4E2-1645-3A1C-1B61-A280324B6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3DB92-8C71-9684-EA72-F786EB70B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035C7-54B4-7007-47F6-291B37C0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1CAD-835A-4B3B-B63E-EAFEFC03D019}" type="datetime5">
              <a:rPr lang="en-US" smtClean="0"/>
              <a:t>28-Aug-26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1B696-B868-3840-7932-FCFAE927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Two-Wheeled Inverted Pendulum Self-Balancing Robot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2D83C-AA80-0663-36F4-C81601F2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23815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C90BE-0CB7-0DF7-BC45-CCF37AD4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27C1C-E9AE-1501-63E1-5A79A257B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F0E97-812B-AED9-C3FF-039FEC5E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64575-6FDA-48AD-8250-EA8FA52E42ED}" type="datetime5">
              <a:rPr lang="en-US" smtClean="0"/>
              <a:t>28-Aug-26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6A54D-9AD1-EDEE-9B78-D1644301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Two-Wheeled Inverted Pendulum Self-Balancing Robot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450D0-7BDD-1B2F-26CF-A4755F39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05169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49A4F0-51E3-C6E6-D4E5-3749557EB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8D7B6-F0E2-A8EC-E24B-FFD1CF7EA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675B0-AAF0-9404-0C9A-A645B03D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D8238-3EC9-4607-AE9E-9AD21115C7CA}" type="datetime5">
              <a:rPr lang="en-US" smtClean="0"/>
              <a:t>28-Aug-26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A00C8-AD98-748D-2BF3-97011A3F1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Two-Wheeled Inverted Pendulum Self-Balancing Robot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ADB40-423D-1ECC-B333-F743883C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7077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30480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3D7E291E-FFA4-4F3C-82A5-9DC4CDF6BA43}" type="datetime5">
              <a:rPr lang="en-US" smtClean="0"/>
              <a:t>28-Aug-26</a:t>
            </a:fld>
            <a:endParaRPr lang="en-US" dirty="0">
              <a:latin typeface="+mj-lt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9775" y="6356351"/>
            <a:ext cx="5632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 dirty="0"/>
              <a:t>CEP: Two-Wheeled Inverted Pendulum Self-Balancing Robot</a:t>
            </a:r>
            <a:endParaRPr lang="en-US" dirty="0">
              <a:latin typeface="+mj-lt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71200" y="6400801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10377D7-8C3A-478A-B47F-247E829E3D11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/(Total No)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12" r:id="rId2"/>
  </p:sldLayoutIdLst>
  <p:transition advClick="0">
    <p:fade/>
  </p:transition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«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EA872F-4F82-75C4-5A57-F21602CC1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42BB0-A931-C27E-BD5C-B95410207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B0B68-7525-EE0B-0A3B-2C2092222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4D501-A831-4F70-A730-A517A2680FA7}" type="datetime5">
              <a:rPr lang="en-US" smtClean="0"/>
              <a:t>28-Aug-26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54568-A4BF-C3C0-05B9-F689FC19E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CEP: Two-Wheeled Inverted Pendulum Self-Balancing Robot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35762-4B78-2922-364A-E2C279E6C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454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4051-79A4-F230-D681-261A276885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9689A-7A4E-26EE-9A1E-4C25DF1724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BC2BE6-0C7F-6DC9-6966-17DB778A58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5122" name="Picture 2" descr="Free Bismillah Images: Download High-Quality Islamic Profile Pics ...">
            <a:extLst>
              <a:ext uri="{FF2B5EF4-FFF2-40B4-BE49-F238E27FC236}">
                <a16:creationId xmlns:a16="http://schemas.microsoft.com/office/drawing/2014/main" id="{8FB7991F-5DAC-633E-8A76-8C086DBE8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973" y="1882486"/>
            <a:ext cx="6186054" cy="309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AEC44-E281-8768-4B81-AEE3B120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945768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552700" y="76200"/>
            <a:ext cx="7086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400" b="1" dirty="0">
                <a:solidFill>
                  <a:srgbClr val="FFC000"/>
                </a:solidFill>
                <a:latin typeface="Arial"/>
                <a:cs typeface="Arial"/>
              </a:rPr>
              <a:t>AV – 355  </a:t>
            </a:r>
            <a:endParaRPr lang="en-US" sz="2400" b="1" dirty="0">
              <a:solidFill>
                <a:srgbClr val="FFC000"/>
              </a:solidFill>
            </a:endParaRPr>
          </a:p>
          <a:p>
            <a:pPr lvl="0" algn="ctr" eaLnBrk="0" hangingPunct="0"/>
            <a:r>
              <a:rPr lang="en-US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COMPLEX ENGG PROBLEM PRESENTATION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2552700" y="1143000"/>
            <a:ext cx="7086600" cy="1588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00000" y="1300000"/>
            <a:ext cx="9792000" cy="900000"/>
          </a:xfrm>
          <a:prstGeom prst="rect">
            <a:avLst/>
          </a:prstGeom>
        </p:spPr>
        <p:txBody>
          <a:bodyPr wrap="square" lIns="91440" tIns="45720" rIns="91440" bIns="45720" anchor="t"/>
          <a:lstStyle/>
          <a:p>
            <a:pPr algn="ctr"/>
            <a:r>
              <a:rPr lang="en-US" sz="2000" b="1" dirty="0">
                <a:solidFill>
                  <a:srgbClr val="FFC000"/>
                </a:solidFill>
                <a:latin typeface="Arial"/>
                <a:cs typeface="Arial"/>
              </a:rPr>
              <a:t>Design, Mathematical Modeling and Hardware Implementation of a Two-Wheeled Inverted Pendulum Robot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FA2524-98CC-4D11-BEED-D13524253046}"/>
              </a:ext>
            </a:extLst>
          </p:cNvPr>
          <p:cNvSpPr txBox="1"/>
          <p:nvPr/>
        </p:nvSpPr>
        <p:spPr>
          <a:xfrm>
            <a:off x="8020275" y="5940730"/>
            <a:ext cx="3857401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r"/>
            <a:r>
              <a:rPr lang="en-US" sz="2000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Instructor:</a:t>
            </a:r>
            <a:endParaRPr lang="en-US" sz="20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W/C Ahnaf</a:t>
            </a:r>
          </a:p>
        </p:txBody>
      </p:sp>
      <p:sp>
        <p:nvSpPr>
          <p:cNvPr id="12" name="Presenters"/>
          <p:cNvSpPr txBox="1"/>
          <p:nvPr/>
        </p:nvSpPr>
        <p:spPr>
          <a:xfrm>
            <a:off x="314324" y="4598616"/>
            <a:ext cx="4100000" cy="2050000"/>
          </a:xfrm>
          <a:prstGeom prst="roundRect">
            <a:avLst>
              <a:gd name="adj" fmla="val 4000"/>
            </a:avLst>
          </a:prstGeom>
          <a:noFill/>
        </p:spPr>
        <p:txBody>
          <a:bodyPr wrap="square" lIns="137160" tIns="91440" rIns="137160" bIns="91440" rtlCol="0" anchor="t"/>
          <a:lstStyle/>
          <a:p>
            <a:pPr>
              <a:buNone/>
            </a:pPr>
            <a:r>
              <a:rPr lang="en-US" sz="1600" b="1" dirty="0">
                <a:solidFill>
                  <a:srgbClr val="FFC000"/>
                </a:solidFill>
                <a:latin typeface="Arial"/>
                <a:cs typeface="Arial"/>
              </a:rPr>
              <a:t>Presented By :</a:t>
            </a:r>
          </a:p>
          <a:p>
            <a:pPr>
              <a:spcBef>
                <a:spcPts val="15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/>
                <a:cs typeface="Arial"/>
              </a:rPr>
              <a:t>NS Asfand  (458959)</a:t>
            </a:r>
          </a:p>
          <a:p>
            <a:pPr>
              <a:spcBef>
                <a:spcPts val="15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/>
                <a:cs typeface="Arial"/>
              </a:rPr>
              <a:t>NS Hamza  (467624)</a:t>
            </a:r>
          </a:p>
          <a:p>
            <a:pPr>
              <a:spcBef>
                <a:spcPts val="15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/>
                <a:cs typeface="Arial"/>
              </a:rPr>
              <a:t>NS Muqtadir  (477812)</a:t>
            </a:r>
          </a:p>
          <a:p>
            <a:pPr>
              <a:spcBef>
                <a:spcPts val="15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/>
                <a:cs typeface="Arial"/>
              </a:rPr>
              <a:t>AC Inham  (487315)</a:t>
            </a:r>
          </a:p>
          <a:p>
            <a:pPr>
              <a:spcBef>
                <a:spcPts val="350"/>
              </a:spcBef>
              <a:buNone/>
            </a:pPr>
            <a:r>
              <a:rPr lang="en-US" sz="1600" b="1" dirty="0">
                <a:solidFill>
                  <a:srgbClr val="FFC000"/>
                </a:solidFill>
                <a:latin typeface="Arial"/>
                <a:cs typeface="Arial"/>
              </a:rPr>
              <a:t>Number of Slides :  </a:t>
            </a:r>
            <a:r>
              <a:rPr lang="en-US" sz="1600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62500" y="2311716"/>
            <a:ext cx="2667000" cy="34436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D5FFFB-E4D0-5C70-6E34-0F147DB1B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2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ransition advClick="0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3E6B3-7770-128E-9040-9860EB43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A4EA741-3ACC-013F-2917-374D4B0F8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1143000"/>
          </a:xfrm>
        </p:spPr>
        <p:txBody>
          <a:bodyPr/>
          <a:lstStyle/>
          <a:p>
            <a:r>
              <a:rPr lang="en-US" dirty="0"/>
              <a:t>Sequence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2024E6F6-C687-E3B3-E26C-BC94DF37F118}"/>
              </a:ext>
            </a:extLst>
          </p:cNvPr>
          <p:cNvSpPr/>
          <p:nvPr/>
        </p:nvSpPr>
        <p:spPr>
          <a:xfrm>
            <a:off x="4233947" y="3130215"/>
            <a:ext cx="3724105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sz="2000" dirty="0">
                <a:solidFill>
                  <a:schemeClr val="tx1"/>
                </a:solidFill>
              </a:rPr>
              <a:t>Methodology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EA96DC49-F5F4-5BE7-CE7F-0AF41D299A23}"/>
              </a:ext>
            </a:extLst>
          </p:cNvPr>
          <p:cNvSpPr/>
          <p:nvPr/>
        </p:nvSpPr>
        <p:spPr>
          <a:xfrm>
            <a:off x="4233947" y="2340596"/>
            <a:ext cx="3724105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sz="2000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B38E58B5-76D7-E9D7-8E80-9C078E7CA524}"/>
              </a:ext>
            </a:extLst>
          </p:cNvPr>
          <p:cNvSpPr/>
          <p:nvPr/>
        </p:nvSpPr>
        <p:spPr>
          <a:xfrm>
            <a:off x="4228774" y="1550978"/>
            <a:ext cx="3724105" cy="721294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sz="2000" dirty="0">
                <a:solidFill>
                  <a:schemeClr val="tx1"/>
                </a:solidFill>
              </a:rPr>
              <a:t>Project Aim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DF25805F-0D01-6022-07FA-63EB8E10767D}"/>
              </a:ext>
            </a:extLst>
          </p:cNvPr>
          <p:cNvSpPr/>
          <p:nvPr/>
        </p:nvSpPr>
        <p:spPr>
          <a:xfrm>
            <a:off x="4230210" y="3919833"/>
            <a:ext cx="3725789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0F4DAE-06EC-40DF-E187-2AC1EC630858}"/>
              </a:ext>
            </a:extLst>
          </p:cNvPr>
          <p:cNvSpPr/>
          <p:nvPr/>
        </p:nvSpPr>
        <p:spPr>
          <a:xfrm>
            <a:off x="4232509" y="4709452"/>
            <a:ext cx="3725789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5185F-C50F-A13F-0CC7-227735735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3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886AEB-FD3D-6D40-C69F-9DD27C60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Two-Wheeled Inverted Pendulum Self-Balancing Robot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13165508"/>
      </p:ext>
    </p:extLst>
  </p:cSld>
  <p:clrMapOvr>
    <a:masterClrMapping/>
  </p:clrMapOvr>
  <p:transition advClick="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Aim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9E81B7-EBC3-ABDE-6BB1-7D06BA0A2065}"/>
              </a:ext>
            </a:extLst>
          </p:cNvPr>
          <p:cNvSpPr/>
          <p:nvPr/>
        </p:nvSpPr>
        <p:spPr>
          <a:xfrm>
            <a:off x="1501285" y="3010686"/>
            <a:ext cx="9697432" cy="1490133"/>
          </a:xfrm>
          <a:prstGeom prst="roundRect">
            <a:avLst/>
          </a:prstGeom>
          <a:gradFill flip="none" rotWithShape="1">
            <a:gsLst>
              <a:gs pos="0">
                <a:srgbClr val="A45004">
                  <a:shade val="30000"/>
                  <a:satMod val="115000"/>
                </a:srgbClr>
              </a:gs>
              <a:gs pos="50000">
                <a:srgbClr val="A45004">
                  <a:shade val="67500"/>
                  <a:satMod val="115000"/>
                </a:srgbClr>
              </a:gs>
              <a:gs pos="100000">
                <a:srgbClr val="A45004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>
                <a:solidFill>
                  <a:srgbClr val="FFFFFF"/>
                </a:solidFill>
                <a:latin typeface="Arial"/>
                <a:cs typeface="Arial"/>
              </a:rPr>
              <a:t>To design, model, fabricate and dynamically stabilise a two-wheeled inverted pendulum robot, and to justify the engineering transition from theoretical LQR state feedback to a hardware-realisable cascaded PID architecture.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E08B1-CBD9-A75C-62AE-3A381A380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4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2C86B-8544-2E41-32FF-F7C58128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Introduction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00000" y="1620000"/>
            <a:ext cx="6250000" cy="4400000"/>
          </a:xfrm>
        </p:spPr>
        <p:txBody>
          <a:bodyPr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sz="1700" b="1" dirty="0">
                <a:solidFill>
                  <a:srgbClr val="FFC000"/>
                </a:solidFill>
                <a:latin typeface="Arial"/>
                <a:cs typeface="Arial"/>
              </a:rPr>
              <a:t>Benchmark problem. </a:t>
            </a:r>
            <a:r>
              <a:rPr lang="en-US" sz="1700" dirty="0">
                <a:latin typeface="Arial"/>
                <a:cs typeface="Arial"/>
              </a:rPr>
              <a:t>The two-wheeled inverted pendulum is open-loop unstable, non-linear, multivariable and under-actuated.</a:t>
            </a:r>
          </a:p>
          <a:p>
            <a:pPr lvl="0">
              <a:spcAft>
                <a:spcPts val="600"/>
              </a:spcAft>
            </a:pPr>
            <a:r>
              <a:rPr lang="en-US" sz="1700" b="1" dirty="0">
                <a:solidFill>
                  <a:srgbClr val="FFC000"/>
                </a:solidFill>
                <a:latin typeface="Arial"/>
                <a:cs typeface="Arial"/>
              </a:rPr>
              <a:t>Under-actuation. </a:t>
            </a:r>
            <a:r>
              <a:rPr lang="en-US" sz="1700" dirty="0">
                <a:latin typeface="Arial"/>
                <a:cs typeface="Arial"/>
              </a:rPr>
              <a:t>Two coaxial wheel torques must regulate three degrees of freedom: pitch tilt, yaw heading and cart displacement.</a:t>
            </a:r>
          </a:p>
          <a:p>
            <a:pPr lvl="0">
              <a:spcAft>
                <a:spcPts val="600"/>
              </a:spcAft>
            </a:pPr>
            <a:r>
              <a:rPr lang="en-US" sz="1700" b="1" dirty="0">
                <a:solidFill>
                  <a:srgbClr val="FFC000"/>
                </a:solidFill>
                <a:latin typeface="Arial"/>
                <a:cs typeface="Arial"/>
              </a:rPr>
              <a:t>Aerospace relevance. </a:t>
            </a:r>
            <a:r>
              <a:rPr lang="en-US" sz="1700" dirty="0">
                <a:latin typeface="Arial"/>
                <a:cs typeface="Arial"/>
              </a:rPr>
              <a:t>Same dynamics govern launch vehicle thrust vector control, VTOL booster recovery.</a:t>
            </a:r>
          </a:p>
          <a:p>
            <a:pPr lvl="0">
              <a:spcAft>
                <a:spcPts val="600"/>
              </a:spcAft>
            </a:pPr>
            <a:r>
              <a:rPr lang="en-US" sz="1700" b="1" dirty="0">
                <a:solidFill>
                  <a:srgbClr val="FFC000"/>
                </a:solidFill>
                <a:latin typeface="Arial"/>
                <a:cs typeface="Arial"/>
              </a:rPr>
              <a:t>Objective. </a:t>
            </a:r>
            <a:r>
              <a:rPr lang="en-US" sz="1700" dirty="0">
                <a:latin typeface="Arial"/>
                <a:cs typeface="Arial"/>
              </a:rPr>
              <a:t>Hold the unstable vertical equilibrium on real hardware, not only in simulation.</a:t>
            </a:r>
          </a:p>
        </p:txBody>
      </p:sp>
      <p:pic>
        <p:nvPicPr>
          <p:cNvPr id="20" name="Prototy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000" y="1750000"/>
            <a:ext cx="3700000" cy="3934000"/>
          </a:xfrm>
          <a:prstGeom prst="roundRect">
            <a:avLst>
              <a:gd name="adj" fmla="val 3000"/>
            </a:avLst>
          </a:prstGeom>
          <a:ln w="19050">
            <a:solidFill>
              <a:srgbClr val="FFC000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5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B5D6-327E-0DA2-2CF5-59DE85CC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09956606"/>
      </p:ext>
    </p:extLst>
  </p:cSld>
  <p:clrMapOvr>
    <a:masterClrMapping/>
  </p:clrMapOvr>
  <p:transition advClick="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State-Space Model and LQR Synthesis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00000" y="1500000"/>
            <a:ext cx="10000000" cy="2500000"/>
          </a:xfrm>
        </p:spPr>
        <p:txBody>
          <a:bodyPr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sz="1800" dirty="0">
                <a:latin typeface="Arial"/>
                <a:cs typeface="Arial"/>
              </a:rPr>
              <a:t>State vector </a:t>
            </a:r>
            <a:r>
              <a:rPr lang="en-US" sz="1800" b="1" dirty="0">
                <a:solidFill>
                  <a:srgbClr val="FFC000"/>
                </a:solidFill>
                <a:latin typeface="Arial"/>
                <a:cs typeface="Arial"/>
              </a:rPr>
              <a:t>x(t) = [ x , ẋ , θ , ω ]ᵀ</a:t>
            </a:r>
            <a:r>
              <a:rPr lang="en-US" sz="1800" dirty="0">
                <a:latin typeface="Arial"/>
                <a:cs typeface="Arial"/>
              </a:rPr>
              <a:t> and control input </a:t>
            </a:r>
            <a:r>
              <a:rPr lang="en-US" sz="1800" b="1" dirty="0">
                <a:solidFill>
                  <a:srgbClr val="FFC000"/>
                </a:solidFill>
                <a:latin typeface="Arial"/>
                <a:cs typeface="Arial"/>
              </a:rPr>
              <a:t>u(t) = τ</a:t>
            </a:r>
            <a:r>
              <a:rPr lang="en-US" sz="1800" dirty="0">
                <a:latin typeface="Arial"/>
                <a:cs typeface="Arial"/>
              </a:rPr>
              <a:t>, giving ẋ(t) = A x(t) + B u(t) , y(t) = C x(t).</a:t>
            </a:r>
          </a:p>
          <a:p>
            <a:pPr lvl="0">
              <a:spcAft>
                <a:spcPts val="600"/>
              </a:spcAft>
            </a:pPr>
            <a:r>
              <a:rPr lang="en-US" sz="1800" b="1" dirty="0">
                <a:solidFill>
                  <a:srgbClr val="FFC000"/>
                </a:solidFill>
                <a:latin typeface="Arial"/>
                <a:cs typeface="Arial"/>
              </a:rPr>
              <a:t>Quadratic cost: </a:t>
            </a:r>
            <a:r>
              <a:rPr lang="en-US" sz="1800" dirty="0">
                <a:latin typeface="Arial"/>
                <a:cs typeface="Arial"/>
              </a:rPr>
              <a:t>J = ∫ ( xᵀ Q x + uᵀ R u ) dt, where Q ≥ 0 penalises state deviation and R &gt; 0 penalises actuator effort.</a:t>
            </a:r>
          </a:p>
          <a:p>
            <a:pPr lvl="0">
              <a:spcAft>
                <a:spcPts val="600"/>
              </a:spcAft>
            </a:pPr>
            <a:r>
              <a:rPr lang="en-US" sz="1800" b="1" dirty="0">
                <a:solidFill>
                  <a:srgbClr val="FFC000"/>
                </a:solidFill>
                <a:latin typeface="Arial"/>
                <a:cs typeface="Arial"/>
              </a:rPr>
              <a:t>Riccati solution: </a:t>
            </a:r>
            <a:r>
              <a:rPr lang="en-US" sz="1800" dirty="0">
                <a:latin typeface="Arial"/>
                <a:cs typeface="Arial"/>
              </a:rPr>
              <a:t>the optimal gain is K = R⁻¹ Bᵀ P, with P the unique positive-definite solution of AᵀP + PA − PBR⁻¹BᵀP + Q = 0.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1100000" y="4120000"/>
            <a:ext cx="10000000" cy="160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C000"/>
                </a:solidFill>
                <a:latin typeface="Arial"/>
                <a:cs typeface="Arial"/>
              </a:rPr>
              <a:t>Optimal state-feedback law</a:t>
            </a:r>
          </a:p>
          <a:p>
            <a:pPr algn="ctr">
              <a:spcBef>
                <a:spcPts val="35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/>
                <a:cs typeface="Arial"/>
              </a:rPr>
              <a:t>u  =  −K x  =  − ( k₁ x  +  k₂ ẋ  +  k₃ θ  +  k₄ ω )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  <a:cs typeface="Arial"/>
              </a:rPr>
              <a:t>Every one of the four states must be measurable in real time, which is exactly where the hardware falls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7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Rebuttal: Why Pure LQR Was Not Realisable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700000" y="1560000"/>
            <a:ext cx="5250000" cy="178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t"/>
          <a:lstStyle/>
          <a:p>
            <a:pPr>
              <a:buNone/>
            </a:pPr>
            <a:r>
              <a:rPr lang="en-US" sz="1600" b="1" dirty="0">
                <a:solidFill>
                  <a:srgbClr val="FFC000"/>
                </a:solidFill>
                <a:latin typeface="Arial"/>
                <a:cs typeface="Arial"/>
              </a:rPr>
              <a:t>Unobservable cart states</a:t>
            </a:r>
          </a:p>
          <a:p>
            <a:pPr>
              <a:spcBef>
                <a:spcPts val="5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Arial"/>
                <a:cs typeface="Arial"/>
              </a:rPr>
              <a:t>TT gear motors carry no optical or magnetic encoders. Double integrating accelerometer data for x drifts cubically within a few hundred milliseconds, so x and ẋ are not recoverable in real time.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6240000" y="1560000"/>
            <a:ext cx="5250000" cy="178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t"/>
          <a:lstStyle/>
          <a:p>
            <a:pPr>
              <a:buNone/>
            </a:pPr>
            <a:r>
              <a:rPr lang="en-US" sz="1600" b="1" dirty="0">
                <a:solidFill>
                  <a:srgbClr val="FFC000"/>
                </a:solidFill>
                <a:latin typeface="Arial"/>
                <a:cs typeface="Arial"/>
              </a:rPr>
              <a:t>Severe gearbox backlash</a:t>
            </a:r>
          </a:p>
          <a:p>
            <a:pPr>
              <a:spcBef>
                <a:spcPts val="5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Arial"/>
                <a:cs typeface="Arial"/>
              </a:rPr>
              <a:t>The 1:48 plastic spur train has a 2° to 5° dead zone. Every torque reversal across vertical adds phase delay that drives closed-loop poles into the right half plane.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700000" y="3590000"/>
            <a:ext cx="5250000" cy="178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t"/>
          <a:lstStyle/>
          <a:p>
            <a:pPr>
              <a:buNone/>
            </a:pPr>
            <a:r>
              <a:rPr lang="en-US" sz="1600" b="1" dirty="0">
                <a:solidFill>
                  <a:srgbClr val="FFC000"/>
                </a:solidFill>
                <a:latin typeface="Arial"/>
                <a:cs typeface="Arial"/>
              </a:rPr>
              <a:t>Actuator and driver saturation</a:t>
            </a:r>
          </a:p>
          <a:p>
            <a:pPr>
              <a:spcBef>
                <a:spcPts val="5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Arial"/>
                <a:cs typeface="Arial"/>
              </a:rPr>
              <a:t>Aggressive LQR gains demand peak current beyond the L293D thermal limit of 600 mA and torque beyond the 0.8 kg·cm motor ceiling.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6240000" y="3590000"/>
            <a:ext cx="5250000" cy="178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t"/>
          <a:lstStyle/>
          <a:p>
            <a:pPr>
              <a:buNone/>
            </a:pPr>
            <a:r>
              <a:rPr lang="en-US" sz="1600" b="1" dirty="0">
                <a:solidFill>
                  <a:srgbClr val="FFC000"/>
                </a:solidFill>
                <a:latin typeface="Arial"/>
                <a:cs typeface="Arial"/>
              </a:rPr>
              <a:t>Asymmetric friction and stiction</a:t>
            </a:r>
          </a:p>
          <a:p>
            <a:pPr>
              <a:spcBef>
                <a:spcPts val="5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Arial"/>
                <a:cs typeface="Arial"/>
              </a:rPr>
              <a:t>The two motors break away at different thresholds, so equal PWM produces unequal wheel speed, continuous yaw rotation and diagonal falling.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8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State Estimation and Sensor Fusion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00000" y="1500000"/>
            <a:ext cx="10400000" cy="2600000"/>
          </a:xfrm>
        </p:spPr>
        <p:txBody>
          <a:bodyPr>
            <a:normAutofit lnSpcReduction="10000"/>
          </a:bodyPr>
          <a:lstStyle/>
          <a:p>
            <a:pPr lvl="0">
              <a:spcAft>
                <a:spcPts val="600"/>
              </a:spcAft>
            </a:pPr>
            <a:r>
              <a:rPr lang="en-US" sz="1800" b="1" dirty="0">
                <a:solidFill>
                  <a:srgbClr val="FFC000"/>
                </a:solidFill>
                <a:latin typeface="Arial"/>
                <a:cs typeface="Arial"/>
              </a:rPr>
              <a:t>Accelerometer tilt: </a:t>
            </a:r>
            <a:r>
              <a:rPr lang="en-US" sz="1800" dirty="0">
                <a:latin typeface="Arial"/>
                <a:cs typeface="Arial"/>
              </a:rPr>
              <a:t>θacc = atan2(ay, az) × 180/π, drift free in steady state but corrupted by gear-mesh and structural vibration.</a:t>
            </a:r>
          </a:p>
          <a:p>
            <a:pPr lvl="0">
              <a:spcAft>
                <a:spcPts val="600"/>
              </a:spcAft>
            </a:pPr>
            <a:r>
              <a:rPr lang="en-US" sz="1800" b="1" dirty="0">
                <a:solidFill>
                  <a:srgbClr val="FFC000"/>
                </a:solidFill>
                <a:latin typeface="Arial"/>
                <a:cs typeface="Arial"/>
              </a:rPr>
              <a:t>Gyroscopic rate: </a:t>
            </a:r>
            <a:r>
              <a:rPr lang="en-US" sz="1800" dirty="0">
                <a:latin typeface="Arial"/>
                <a:cs typeface="Arial"/>
              </a:rPr>
              <a:t>ωgyro = (gx − offset) / 131.0, immune to linear vibration but subject to slow thermal bias drift.</a:t>
            </a:r>
          </a:p>
          <a:p>
            <a:pPr lvl="0">
              <a:spcAft>
                <a:spcPts val="600"/>
              </a:spcAft>
            </a:pPr>
            <a:r>
              <a:rPr lang="en-US" sz="1800" b="1" dirty="0">
                <a:solidFill>
                  <a:srgbClr val="FFC000"/>
                </a:solidFill>
                <a:latin typeface="Arial"/>
                <a:cs typeface="Arial"/>
              </a:rPr>
              <a:t>Axis alignment fix: </a:t>
            </a:r>
            <a:r>
              <a:rPr lang="en-US" sz="1800" dirty="0">
                <a:latin typeface="Arial"/>
                <a:cs typeface="Arial"/>
              </a:rPr>
              <a:t>early firmware paired atan2(ay, az) with gyro Y, giving near-zero rate integration and violent instability. Re-pairing with gyro X closed the loop.</a:t>
            </a:r>
          </a:p>
          <a:p>
            <a:pPr lvl="0">
              <a:spcAft>
                <a:spcPts val="600"/>
              </a:spcAft>
            </a:pPr>
            <a:r>
              <a:rPr lang="en-US" sz="1800" b="1" dirty="0">
                <a:solidFill>
                  <a:srgbClr val="FFC000"/>
                </a:solidFill>
                <a:latin typeface="Arial"/>
                <a:cs typeface="Arial"/>
              </a:rPr>
              <a:t>Zero-rate calibration: </a:t>
            </a:r>
            <a:r>
              <a:rPr lang="en-US" sz="1800" dirty="0">
                <a:latin typeface="Arial"/>
                <a:cs typeface="Arial"/>
              </a:rPr>
              <a:t>a motionless routine averaged N = 300 samples to measure gyroX_offset = 11.40 LSB.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900000" y="4180000"/>
            <a:ext cx="10400000" cy="156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C000"/>
                </a:solidFill>
                <a:latin typeface="Arial"/>
                <a:cs typeface="Arial"/>
              </a:rPr>
              <a:t>Discrete complementary filter at 150 Hz  (Δt ≈ 0.008 s)</a:t>
            </a:r>
          </a:p>
          <a:p>
            <a:pPr algn="ctr">
              <a:spcBef>
                <a:spcPts val="350"/>
              </a:spcBef>
              <a:buNone/>
            </a:pPr>
            <a:r>
              <a:rPr lang="en-US" sz="1700" dirty="0">
                <a:solidFill>
                  <a:srgbClr val="FFFFFF"/>
                </a:solidFill>
                <a:latin typeface="Arial"/>
                <a:cs typeface="Arial"/>
              </a:rPr>
              <a:t>θk  =  α ( θk−1 + ωgyro,k Δt )  +  ( 1 − α ) θacc,k ,        α = 0.98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  <a:cs typeface="Arial"/>
              </a:rPr>
              <a:t>98% short-term gyroscopic integration for phase-lag-free response, 2% gravitational anchoring to kill long-term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9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Cascaded Control Architecture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00000" y="3500000"/>
            <a:ext cx="10600000" cy="2500000"/>
          </a:xfrm>
        </p:spPr>
        <p:txBody>
          <a:bodyPr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sz="1600" b="1" dirty="0">
                <a:solidFill>
                  <a:srgbClr val="FFC000"/>
                </a:solidFill>
                <a:latin typeface="Arial"/>
                <a:cs typeface="Arial"/>
              </a:rPr>
              <a:t>Anti-runaway cascade. </a:t>
            </a:r>
            <a:r>
              <a:rPr lang="en-US" sz="1600" dirty="0">
                <a:latin typeface="Arial"/>
                <a:cs typeface="Arial"/>
              </a:rPr>
              <a:t>Without encoders a setpoint error causes continuous unidirectional acceleration; the virtual velocity state leans the chassis in reverse and brakes the robot back to a stationary equilibrium.</a:t>
            </a:r>
          </a:p>
          <a:p>
            <a:pPr lvl="0">
              <a:spcAft>
                <a:spcPts val="600"/>
              </a:spcAft>
            </a:pPr>
            <a:r>
              <a:rPr lang="en-US" sz="1600" b="1" dirty="0">
                <a:solidFill>
                  <a:srgbClr val="FFC000"/>
                </a:solidFill>
                <a:latin typeface="Arial"/>
                <a:cs typeface="Arial"/>
              </a:rPr>
              <a:t>Integral action disabled. </a:t>
            </a:r>
            <a:r>
              <a:rPr lang="en-US" sz="1600" dirty="0">
                <a:latin typeface="Arial"/>
                <a:cs typeface="Arial"/>
              </a:rPr>
              <a:t>Ki = 0 avoids phase-lag windup across the backlash dead zone.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800000" y="1560000"/>
            <a:ext cx="3260000" cy="100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  <a:cs typeface="Arial"/>
              </a:rPr>
              <a:t>IMU + Complementary Filter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θ , ω estimated at 150 Hz</a:t>
            </a:r>
          </a:p>
        </p:txBody>
      </p:sp>
      <p:sp>
        <p:nvSpPr>
          <p:cNvPr id="31" name="Arrow 0"/>
          <p:cNvSpPr/>
          <p:nvPr/>
        </p:nvSpPr>
        <p:spPr>
          <a:xfrm>
            <a:off x="4150000" y="1960000"/>
            <a:ext cx="300000" cy="20000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4540000" y="1560000"/>
            <a:ext cx="3260000" cy="100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  <a:cs typeface="Arial"/>
              </a:rPr>
              <a:t>Inner Balance Loop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u = Kp(θ − θdyn) + Kd ωgyro</a:t>
            </a:r>
          </a:p>
        </p:txBody>
      </p:sp>
      <p:sp>
        <p:nvSpPr>
          <p:cNvPr id="33" name="Arrow 1"/>
          <p:cNvSpPr/>
          <p:nvPr/>
        </p:nvSpPr>
        <p:spPr>
          <a:xfrm>
            <a:off x="7890000" y="1960000"/>
            <a:ext cx="300000" cy="20000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8280000" y="1560000"/>
            <a:ext cx="3260000" cy="100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  <a:cs typeface="Arial"/>
              </a:rPr>
              <a:t>Deadband Remap + Motors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PWM with trim and stiction offset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10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Deadband Remapping and Friction Equalisation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00000" y="1500000"/>
            <a:ext cx="10400000" cy="1700000"/>
          </a:xfrm>
        </p:spPr>
        <p:txBody>
          <a:bodyPr>
            <a:normAutofit fontScale="92500" lnSpcReduction="20000"/>
          </a:bodyPr>
          <a:lstStyle/>
          <a:p>
            <a:pPr lvl="0">
              <a:spcAft>
                <a:spcPts val="600"/>
              </a:spcAft>
            </a:pPr>
            <a:r>
              <a:rPr lang="en-US" sz="1800" dirty="0">
                <a:latin typeface="Arial"/>
                <a:cs typeface="Arial"/>
              </a:rPr>
              <a:t>A non-linear piecewise map lifts every non-zero controller command straight into the active torque region, past the static friction threshold.</a:t>
            </a:r>
          </a:p>
          <a:p>
            <a:pPr lvl="0">
              <a:spcAft>
                <a:spcPts val="600"/>
              </a:spcAft>
            </a:pPr>
            <a:r>
              <a:rPr lang="en-US" sz="1800" dirty="0">
                <a:latin typeface="Arial"/>
                <a:cs typeface="Arial"/>
              </a:rPr>
              <a:t>This keeps the loop responsive at small tilt errors, where a raw PWM command would otherwise produce no wheel motion at all.</a:t>
            </a:r>
          </a:p>
          <a:p>
            <a:pPr lvl="0">
              <a:spcAft>
                <a:spcPts val="600"/>
              </a:spcAft>
            </a:pPr>
            <a:r>
              <a:rPr lang="en-US" sz="1800" dirty="0">
                <a:latin typeface="Arial"/>
                <a:cs typeface="Arial"/>
              </a:rPr>
              <a:t>Independent motor scaling then equalises the mechanical resistance of the higher-friction left motor against the right.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900000" y="3260000"/>
            <a:ext cx="10400000" cy="66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C000"/>
                </a:solidFill>
                <a:latin typeface="Arial"/>
                <a:cs typeface="Arial"/>
              </a:rPr>
              <a:t>PWM = DEADBAND + ((MAX_PWM − DEADBAND) / MAX_PWM) · |u|      for |u| &gt; 0,      otherwise PWM = 0</a:t>
            </a:r>
          </a:p>
        </p:txBody>
      </p:sp>
      <p:graphicFrame>
        <p:nvGraphicFramePr>
          <p:cNvPr id="31" name="Table 31"/>
          <p:cNvGraphicFramePr>
            <a:graphicFrameLocks noGrp="1"/>
          </p:cNvGraphicFramePr>
          <p:nvPr/>
        </p:nvGraphicFramePr>
        <p:xfrm>
          <a:off x="900000" y="4200000"/>
          <a:ext cx="10400000" cy="1600000"/>
        </p:xfrm>
        <a:graphic>
          <a:graphicData uri="http://schemas.openxmlformats.org/drawingml/2006/table">
            <a:tbl>
              <a:tblPr firstRow="1"/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Motor</a:t>
                      </a:r>
                    </a:p>
                  </a:txBody>
                  <a:tcPr marL="72000" marR="72000" anchor="ctr">
                    <a:solidFill>
                      <a:srgbClr val="A4500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Deadband (PWM)</a:t>
                      </a:r>
                    </a:p>
                  </a:txBody>
                  <a:tcPr marL="72000" marR="72000" anchor="ctr">
                    <a:solidFill>
                      <a:srgbClr val="A4500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Trim</a:t>
                      </a:r>
                    </a:p>
                  </a:txBody>
                  <a:tcPr marL="72000" marR="72000" anchor="ctr">
                    <a:solidFill>
                      <a:srgbClr val="A4500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Effect</a:t>
                      </a:r>
                    </a:p>
                  </a:txBody>
                  <a:tcPr marL="72000" marR="72000" anchor="ctr">
                    <a:solidFill>
                      <a:srgbClr val="A450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Left (M4)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50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1.16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+16% torque to overcome higher stiction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Right (M1)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36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1.00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Reference actuator, no compensation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11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Hardware System Architecture</a:t>
            </a:r>
          </a:p>
        </p:txBody>
      </p:sp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700000" y="1560000"/>
          <a:ext cx="7900000" cy="3520000"/>
        </p:xfrm>
        <a:graphic>
          <a:graphicData uri="http://schemas.openxmlformats.org/drawingml/2006/table">
            <a:tbl>
              <a:tblPr firstRow="1"/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Subsystem</a:t>
                      </a:r>
                    </a:p>
                  </a:txBody>
                  <a:tcPr marL="72000" marR="72000" anchor="ctr">
                    <a:solidFill>
                      <a:srgbClr val="A4500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Component</a:t>
                      </a:r>
                    </a:p>
                  </a:txBody>
                  <a:tcPr marL="72000" marR="72000" anchor="ctr">
                    <a:solidFill>
                      <a:srgbClr val="A4500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Operational Specification</a:t>
                      </a:r>
                    </a:p>
                  </a:txBody>
                  <a:tcPr marL="72000" marR="72000" anchor="ctr">
                    <a:solidFill>
                      <a:srgbClr val="A450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Microcontroller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Arduino Uno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ATmega324P, 16 MHz, 5 V logic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Attitude Sensor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GY-521 (MPU-6050)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6-DOF IMU, I2C Fast Mode 400 kHz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Motor Driver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L293D Shield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Dual H-bridge, 74HC595 latch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Actuators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Dual TT Gear Motors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1:48 spur gearbox, 3 to 6 V rated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Wheels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High-traction rubber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66 mm diameter, 26 mm width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Power Supply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3S Li-ion battery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11.1 V nominal to 12.6 V full, 2200 mAh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Structure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3-tier acrylic chassis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Vertically distributed mass layout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0" name="Prototyp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000" y="1560000"/>
            <a:ext cx="2700000" cy="2872000"/>
          </a:xfrm>
          <a:prstGeom prst="roundRect">
            <a:avLst>
              <a:gd name="adj" fmla="val 3000"/>
            </a:avLst>
          </a:prstGeom>
          <a:ln w="19050">
            <a:solidFill>
              <a:srgbClr val="FFC000"/>
            </a:solidFill>
          </a:ln>
        </p:spPr>
      </p:pic>
      <p:sp>
        <p:nvSpPr>
          <p:cNvPr id="41" name="TextBox"/>
          <p:cNvSpPr txBox="1"/>
          <p:nvPr/>
        </p:nvSpPr>
        <p:spPr>
          <a:xfrm>
            <a:off x="8850000" y="4600000"/>
            <a:ext cx="2700000" cy="145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t"/>
          <a:lstStyle/>
          <a:p>
            <a:pPr>
              <a:buNone/>
            </a:pPr>
            <a:r>
              <a:rPr lang="en-US" sz="1200" b="1" dirty="0">
                <a:solidFill>
                  <a:srgbClr val="FFC000"/>
                </a:solidFill>
                <a:latin typeface="Arial"/>
                <a:cs typeface="Arial"/>
              </a:rPr>
              <a:t>Power isolation: </a:t>
            </a: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the L293D external power jumper is removed so motor transients never reach the 5 V logic rail. The IMU sits on the top tier, away from motor EMI.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12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Electrical Interconnect Architecture</a:t>
            </a:r>
          </a:p>
        </p:txBody>
      </p:sp>
      <p:pic>
        <p:nvPicPr>
          <p:cNvPr id="30" name="Schemat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00" y="1470000"/>
            <a:ext cx="6445312" cy="4500000"/>
          </a:xfrm>
          <a:prstGeom prst="roundRect">
            <a:avLst>
              <a:gd name="adj" fmla="val 3000"/>
            </a:avLst>
          </a:prstGeom>
          <a:ln w="19050">
            <a:solidFill>
              <a:srgbClr val="FFC000"/>
            </a:solidFill>
          </a:ln>
        </p:spPr>
      </p:pic>
      <p:sp>
        <p:nvSpPr>
          <p:cNvPr id="31" name="TextBox"/>
          <p:cNvSpPr txBox="1"/>
          <p:nvPr/>
        </p:nvSpPr>
        <p:spPr>
          <a:xfrm>
            <a:off x="7620000" y="1470000"/>
            <a:ext cx="3720000" cy="450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t"/>
          <a:lstStyle/>
          <a:p>
            <a:pPr algn="l">
              <a:buNone/>
            </a:pPr>
            <a:r>
              <a:rPr lang="en-US" sz="1450" b="1" dirty="0">
                <a:solidFill>
                  <a:srgbClr val="FFC000"/>
                </a:solidFill>
                <a:latin typeface="Arial"/>
                <a:cs typeface="Arial"/>
              </a:rPr>
              <a:t>Power isolation</a:t>
            </a:r>
          </a:p>
          <a:p>
            <a:pPr algn="l">
              <a:spcBef>
                <a:spcPts val="250"/>
              </a:spcBef>
              <a:buNone/>
            </a:pPr>
            <a:r>
              <a:rPr lang="en-US" sz="1250" dirty="0">
                <a:solidFill>
                  <a:srgbClr val="FFFFFF"/>
                </a:solidFill>
                <a:latin typeface="Arial"/>
                <a:cs typeface="Arial"/>
              </a:rPr>
              <a:t>The L293D external power jumper is removed, keeping 11.1 to 12.6 V motor transients off the 5 V logic rail.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450" b="1" dirty="0">
                <a:solidFill>
                  <a:srgbClr val="FFC000"/>
                </a:solidFill>
                <a:latin typeface="Arial"/>
                <a:cs typeface="Arial"/>
              </a:rPr>
              <a:t>Fast I2C bus</a:t>
            </a:r>
          </a:p>
          <a:p>
            <a:pPr algn="l">
              <a:spcBef>
                <a:spcPts val="250"/>
              </a:spcBef>
              <a:buNone/>
            </a:pPr>
            <a:r>
              <a:rPr lang="en-US" sz="1250" dirty="0">
                <a:solidFill>
                  <a:srgbClr val="FFFFFF"/>
                </a:solidFill>
                <a:latin typeface="Arial"/>
                <a:cs typeface="Arial"/>
              </a:rPr>
              <a:t>SDA on A4 and SCL on A5, running 400 kHz Fast Mode for deterministic 150 Hz loop execution.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450" b="1" dirty="0">
                <a:solidFill>
                  <a:srgbClr val="FFC000"/>
                </a:solidFill>
                <a:latin typeface="Arial"/>
                <a:cs typeface="Arial"/>
              </a:rPr>
              <a:t>Sensor tiering</a:t>
            </a:r>
          </a:p>
          <a:p>
            <a:pPr algn="l">
              <a:spcBef>
                <a:spcPts val="250"/>
              </a:spcBef>
              <a:buNone/>
            </a:pPr>
            <a:r>
              <a:rPr lang="en-US" sz="1250" dirty="0">
                <a:solidFill>
                  <a:srgbClr val="FFFFFF"/>
                </a:solidFill>
                <a:latin typeface="Arial"/>
                <a:cs typeface="Arial"/>
              </a:rPr>
              <a:t>The MPU-6050 sits on the top acrylic tier, maximising distance from motor electromagnetic fields.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450" b="1" dirty="0">
                <a:solidFill>
                  <a:srgbClr val="FFC000"/>
                </a:solidFill>
                <a:latin typeface="Arial"/>
                <a:cs typeface="Arial"/>
              </a:rPr>
              <a:t>Asymmetric drive</a:t>
            </a:r>
          </a:p>
          <a:p>
            <a:pPr algn="l">
              <a:spcBef>
                <a:spcPts val="250"/>
              </a:spcBef>
              <a:buNone/>
            </a:pPr>
            <a:r>
              <a:rPr lang="en-US" sz="1250" dirty="0">
                <a:solidFill>
                  <a:srgbClr val="FFFFFF"/>
                </a:solidFill>
                <a:latin typeface="Arial"/>
                <a:cs typeface="Arial"/>
              </a:rPr>
              <a:t>Left motor M4 carries a +16% trim and a higher deadband to match the response of right motor M1.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13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DFA9-BBD9-2C4D-4014-7A6A50B28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A7647-B48F-6A77-5464-CD1B8BC36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2595612"/>
      </p:ext>
    </p:extLst>
  </p:cSld>
  <p:clrMapOvr>
    <a:masterClrMapping/>
  </p:clrMapOvr>
  <p:transition advClick="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Progressive Tuning Trajectory</a:t>
            </a:r>
          </a:p>
        </p:txBody>
      </p:sp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700000" y="1600000"/>
          <a:ext cx="10600000" cy="3530000"/>
        </p:xfrm>
        <a:graphic>
          <a:graphicData uri="http://schemas.openxmlformats.org/drawingml/2006/table">
            <a:tbl>
              <a:tblPr firstRow="1"/>
              <a:tblGrid>
                <a:gridCol w="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</a:p>
                  </a:txBody>
                  <a:tcPr marL="72000" marR="72000" anchor="ctr">
                    <a:solidFill>
                      <a:srgbClr val="A4500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Iteration</a:t>
                      </a:r>
                    </a:p>
                  </a:txBody>
                  <a:tcPr marL="72000" marR="72000" anchor="ctr">
                    <a:solidFill>
                      <a:srgbClr val="A4500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Change Applied</a:t>
                      </a:r>
                    </a:p>
                  </a:txBody>
                  <a:tcPr marL="72000" marR="72000" anchor="ctr">
                    <a:solidFill>
                      <a:srgbClr val="A4500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Observed Outcome</a:t>
                      </a:r>
                    </a:p>
                  </a:txBody>
                  <a:tcPr marL="72000" marR="72000" anchor="ctr">
                    <a:solidFill>
                      <a:srgbClr val="A450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Pure high gain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Kp = 65.0, Kd = 2.5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High-frequency chattering and violent limit cycles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Axis correction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Gyro Y → Gyro X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Correct damping feedback established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CG calibration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θsetpoint = −1.85°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True equilibrium found, offset by battery asymmetry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Travel suppression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Kspeed 0.012 → 0.004, Kd = 1.35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50 cm rocking cycle eliminated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Friction equalisation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trimL = 1.16, deadbandL = 50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Asymmetric turning drift removed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TextBox"/>
          <p:cNvSpPr txBox="1"/>
          <p:nvPr/>
        </p:nvSpPr>
        <p:spPr>
          <a:xfrm>
            <a:off x="700000" y="5150000"/>
            <a:ext cx="10600000" cy="55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ctr"/>
          <a:lstStyle/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  <a:cs typeface="Arial"/>
              </a:rPr>
              <a:t>Tuning was driven through an interactive serial command interface, allowing gains to be adjusted while the robot was balancing.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15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Final Locked Control Parameters</a:t>
            </a:r>
          </a:p>
        </p:txBody>
      </p:sp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700000" y="1560000"/>
          <a:ext cx="10600000" cy="3960000"/>
        </p:xfrm>
        <a:graphic>
          <a:graphicData uri="http://schemas.openxmlformats.org/drawingml/2006/table">
            <a:tbl>
              <a:tblPr firstRow="1"/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Parameter</a:t>
                      </a:r>
                    </a:p>
                  </a:txBody>
                  <a:tcPr marL="72000" marR="72000" anchor="ctr">
                    <a:solidFill>
                      <a:srgbClr val="A4500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Final Value</a:t>
                      </a:r>
                    </a:p>
                  </a:txBody>
                  <a:tcPr marL="72000" marR="72000" anchor="ctr">
                    <a:solidFill>
                      <a:srgbClr val="A4500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Physical Interpretation</a:t>
                      </a:r>
                    </a:p>
                  </a:txBody>
                  <a:tcPr marL="72000" marR="72000" anchor="ctr">
                    <a:solidFill>
                      <a:srgbClr val="A450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Kp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23.00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Proportional restorative stiffness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Kd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1.35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Gyroscopic angular velocity damping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Ki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0.00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Disabled to prevent phase-lag windup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Kspeed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0.0040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Virtual translation damping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θsetpoint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−1.85°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Physical centre of gravity trim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gyroX_offset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11.40 LSB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Hardware zero-motion sensor bias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DEADBAND L / R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50 / 36 PWM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Static friction kickstart per motor</a:t>
                      </a:r>
                    </a:p>
                  </a:txBody>
                  <a:tcPr marL="72000" marR="72000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trimL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1.16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Left motor torque multiplier, +16%</a:t>
                      </a:r>
                    </a:p>
                  </a:txBody>
                  <a:tcPr marL="72000" marR="72000" anchor="ctr">
                    <a:solidFill>
                      <a:srgbClr val="17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16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Dynamic Performance and Disturbance Rejection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700000" y="1560000"/>
            <a:ext cx="6400000" cy="125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t"/>
          <a:lstStyle/>
          <a:p>
            <a:pPr>
              <a:buNone/>
            </a:pPr>
            <a:r>
              <a:rPr lang="en-US" sz="3200" b="1" dirty="0">
                <a:solidFill>
                  <a:srgbClr val="FFC000"/>
                </a:solidFill>
                <a:latin typeface="Arial"/>
                <a:cs typeface="Arial"/>
              </a:rPr>
              <a:t>±0.8°</a:t>
            </a:r>
          </a:p>
          <a:p>
            <a:pPr>
              <a:spcBef>
                <a:spcPts val="3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Arial"/>
                <a:cs typeface="Arial"/>
              </a:rPr>
              <a:t>Steady-state attitude deviation from the equilibrium setpoint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700000" y="2980000"/>
            <a:ext cx="6400000" cy="125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t"/>
          <a:lstStyle/>
          <a:p>
            <a:pPr>
              <a:buNone/>
            </a:pPr>
            <a:r>
              <a:rPr lang="en-US" sz="3200" b="1" dirty="0">
                <a:solidFill>
                  <a:srgbClr val="FFC000"/>
                </a:solidFill>
                <a:latin typeface="Arial"/>
                <a:cs typeface="Arial"/>
              </a:rPr>
              <a:t>0.65 s</a:t>
            </a:r>
          </a:p>
          <a:p>
            <a:pPr>
              <a:spcBef>
                <a:spcPts val="3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Arial"/>
                <a:cs typeface="Arial"/>
              </a:rPr>
              <a:t>Recovery time after a manual push disturbance of up to ±12°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700000" y="4400000"/>
            <a:ext cx="6400000" cy="125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t"/>
          <a:lstStyle/>
          <a:p>
            <a:pPr>
              <a:buNone/>
            </a:pPr>
            <a:r>
              <a:rPr lang="en-US" sz="3200" b="1" dirty="0">
                <a:solidFill>
                  <a:srgbClr val="FFC000"/>
                </a:solidFill>
                <a:latin typeface="Arial"/>
                <a:cs typeface="Arial"/>
              </a:rPr>
              <a:t>≤ 30 cm</a:t>
            </a:r>
          </a:p>
          <a:p>
            <a:pPr>
              <a:spcBef>
                <a:spcPts val="3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Arial"/>
                <a:cs typeface="Arial"/>
              </a:rPr>
              <a:t>Bounded positional drift radius on smooth flooring</a:t>
            </a:r>
          </a:p>
        </p:txBody>
      </p:sp>
      <p:pic>
        <p:nvPicPr>
          <p:cNvPr id="40" name="Prototy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0" y="1700000"/>
            <a:ext cx="3900000" cy="4147000"/>
          </a:xfrm>
          <a:prstGeom prst="roundRect">
            <a:avLst>
              <a:gd name="adj" fmla="val 3000"/>
            </a:avLst>
          </a:prstGeom>
          <a:ln w="19050">
            <a:solidFill>
              <a:srgbClr val="FFC000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17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44F0F-62AF-C940-2090-1BDB5B91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D55CD-2E3D-D11E-8AB1-4487F207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DEMONSTRATION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B1EAB-D101-8AEA-18BA-9BAF37141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18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F45A40-92EB-8B7A-9AF1-5127A20A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  <p:pic>
        <p:nvPicPr>
          <p:cNvPr id="5" name="cepp">
            <a:hlinkClick r:id="" action="ppaction://media"/>
            <a:extLst>
              <a:ext uri="{FF2B5EF4-FFF2-40B4-BE49-F238E27FC236}">
                <a16:creationId xmlns:a16="http://schemas.microsoft.com/office/drawing/2014/main" id="{494B925F-A0C3-F8E7-8C09-B435658ECCB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28195" t="13557" r="28195" b="1112"/>
          <a:stretch>
            <a:fillRect/>
          </a:stretch>
        </p:blipFill>
        <p:spPr>
          <a:xfrm>
            <a:off x="3556931" y="1447800"/>
            <a:ext cx="4464621" cy="492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18238"/>
      </p:ext>
    </p:extLst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8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B5D6-327E-0DA2-2CF5-59DE85CC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79702980"/>
      </p:ext>
    </p:extLst>
  </p:cSld>
  <p:clrMapOvr>
    <a:masterClrMapping/>
  </p:clrMapOvr>
  <p:transition advClick="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Conclusion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17600" y="1600201"/>
            <a:ext cx="10464800" cy="4525963"/>
          </a:xfrm>
        </p:spPr>
        <p:txBody>
          <a:bodyPr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sz="1700" dirty="0">
                <a:latin typeface="Arial"/>
                <a:cs typeface="Arial"/>
              </a:rPr>
              <a:t>A physical two-wheeled inverted pendulum robot was modelled, fabricated and dynamically stabilised under tight hardware constraints.</a:t>
            </a:r>
          </a:p>
          <a:p>
            <a:pPr lvl="0">
              <a:spcAft>
                <a:spcPts val="600"/>
              </a:spcAft>
            </a:pPr>
            <a:r>
              <a:rPr lang="en-US" sz="1700" dirty="0">
                <a:latin typeface="Arial"/>
                <a:cs typeface="Arial"/>
              </a:rPr>
              <a:t>LQR remains an elegant theoretical framework, but hardware realisation without wheel encoders exposed fundamental limits in state observability, motor stiction and gearbox backlash.</a:t>
            </a:r>
          </a:p>
          <a:p>
            <a:pPr lvl="0">
              <a:spcAft>
                <a:spcPts val="600"/>
              </a:spcAft>
            </a:pPr>
            <a:r>
              <a:rPr lang="en-US" sz="1700" dirty="0">
                <a:latin typeface="Arial"/>
                <a:cs typeface="Arial"/>
              </a:rPr>
              <a:t>Pivoting to an empirically tuned cascaded dual-loop PID with direct gyroscopic rate damping, complementary filtering and asymmetric deadband compensation delivered robust stabilisation.</a:t>
            </a:r>
          </a:p>
          <a:p>
            <a:pPr lvl="0">
              <a:spcAft>
                <a:spcPts val="600"/>
              </a:spcAft>
            </a:pPr>
            <a:r>
              <a:rPr lang="en-US" sz="1700" dirty="0">
                <a:latin typeface="Arial"/>
                <a:cs typeface="Arial"/>
              </a:rPr>
              <a:t>Attitude stays within ±0.8°, push disturbances up to ±12° recover in 0.65 s.</a:t>
            </a:r>
          </a:p>
          <a:p>
            <a:pPr lvl="0">
              <a:spcAft>
                <a:spcPts val="600"/>
              </a:spcAft>
            </a:pPr>
            <a:r>
              <a:rPr lang="en-US" sz="1700" dirty="0">
                <a:latin typeface="Arial"/>
                <a:cs typeface="Arial"/>
              </a:rPr>
              <a:t>The transition itself is the engineering contribution: the design was driven by what the hardware could actually observe and actuate.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20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Future Recommendations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800000" y="1600000"/>
            <a:ext cx="10500000" cy="128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t"/>
          <a:lstStyle/>
          <a:p>
            <a:pPr>
              <a:buNone/>
            </a:pPr>
            <a:r>
              <a:rPr lang="en-US" sz="1700" b="1" dirty="0">
                <a:solidFill>
                  <a:srgbClr val="FFC000"/>
                </a:solidFill>
                <a:latin typeface="Arial"/>
                <a:cs typeface="Arial"/>
              </a:rPr>
              <a:t>1.  Magnetic rotary encoders</a:t>
            </a:r>
          </a:p>
          <a:p>
            <a:pPr>
              <a:spcBef>
                <a:spcPts val="400"/>
              </a:spcBef>
              <a:buNone/>
            </a:pPr>
            <a:r>
              <a:rPr lang="en-US" sz="1450" dirty="0">
                <a:solidFill>
                  <a:srgbClr val="FFFFFF"/>
                </a:solidFill>
                <a:latin typeface="Arial"/>
                <a:cs typeface="Arial"/>
              </a:rPr>
              <a:t>High-resolution encoders would restore observability of x and ẋ, enabling full state estimation and a true LQR implementation.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800000" y="3040000"/>
            <a:ext cx="10500000" cy="128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t"/>
          <a:lstStyle/>
          <a:p>
            <a:pPr>
              <a:buNone/>
            </a:pPr>
            <a:r>
              <a:rPr lang="en-US" sz="1700" b="1" dirty="0">
                <a:solidFill>
                  <a:srgbClr val="FFC000"/>
                </a:solidFill>
                <a:latin typeface="Arial"/>
                <a:cs typeface="Arial"/>
              </a:rPr>
              <a:t>2.  Backlash-free actuation</a:t>
            </a:r>
          </a:p>
          <a:p>
            <a:pPr>
              <a:spcBef>
                <a:spcPts val="400"/>
              </a:spcBef>
              <a:buNone/>
            </a:pPr>
            <a:r>
              <a:rPr lang="en-US" sz="1450" dirty="0">
                <a:solidFill>
                  <a:srgbClr val="FFFFFF"/>
                </a:solidFill>
                <a:latin typeface="Arial"/>
                <a:cs typeface="Arial"/>
              </a:rPr>
              <a:t>Closed-loop NEMA-17 steppers or BLDC gimbal motors would remove the 2° to 5° spur gearbox dead zone entirely.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800000" y="4480000"/>
            <a:ext cx="10500000" cy="1280000"/>
          </a:xfrm>
          <a:prstGeom prst="roundRect">
            <a:avLst>
              <a:gd name="adj" fmla="val 4000"/>
            </a:avLst>
          </a:prstGeom>
          <a:solidFill>
            <a:srgbClr val="0F2A44"/>
          </a:solidFill>
        </p:spPr>
        <p:txBody>
          <a:bodyPr wrap="square" lIns="137160" tIns="91440" rIns="137160" bIns="91440" rtlCol="0" anchor="t"/>
          <a:lstStyle/>
          <a:p>
            <a:pPr>
              <a:buNone/>
            </a:pPr>
            <a:r>
              <a:rPr lang="en-US" sz="1700" b="1" dirty="0">
                <a:solidFill>
                  <a:srgbClr val="FFC000"/>
                </a:solidFill>
                <a:latin typeface="Arial"/>
                <a:cs typeface="Arial"/>
              </a:rPr>
              <a:t>3.  Extended Kalman Filter</a:t>
            </a:r>
          </a:p>
          <a:p>
            <a:pPr>
              <a:spcBef>
                <a:spcPts val="400"/>
              </a:spcBef>
              <a:buNone/>
            </a:pPr>
            <a:r>
              <a:rPr lang="en-US" sz="1450" dirty="0">
                <a:solidFill>
                  <a:srgbClr val="FFFFFF"/>
                </a:solidFill>
                <a:latin typeface="Arial"/>
                <a:cs typeface="Arial"/>
              </a:rPr>
              <a:t>An EKF would replace the complementary filter for non-linear state estimation under sustained dynamic acceleration.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21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References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00000" y="1520000"/>
            <a:ext cx="10600000" cy="4550000"/>
          </a:xfrm>
        </p:spPr>
        <p:txBody>
          <a:bodyPr>
            <a:normAutofit/>
          </a:bodyPr>
          <a:lstStyle/>
          <a:p>
            <a:pPr marL="430000" indent="-430000">
              <a:spcAft>
                <a:spcPts val="450"/>
              </a:spcAft>
              <a:buFont typeface="Arial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Arial"/>
                <a:cs typeface="Arial"/>
              </a:rPr>
              <a:t>F. Grasser, A. D’Arrigo, S. Colombi and A. C. Rufer, “JOE: A mobile, inverted pendulum, two-wheeled robot,” IEEE Trans. Industrial Electronics, vol. 49, no. 1, pp. 107–114, 2002.</a:t>
            </a:r>
          </a:p>
          <a:p>
            <a:pPr marL="430000" indent="-430000">
              <a:spcAft>
                <a:spcPts val="450"/>
              </a:spcAft>
              <a:buFont typeface="Arial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Arial"/>
                <a:cs typeface="Arial"/>
              </a:rPr>
              <a:t>O. Boubaker, “The inverted pendulum: A ubiquitous benchmark in control technology,” Control Engineering Practice, vol. 21, no. 9, pp. 1265–1272, 2013.</a:t>
            </a:r>
          </a:p>
          <a:p>
            <a:pPr marL="430000" indent="-430000">
              <a:spcAft>
                <a:spcPts val="450"/>
              </a:spcAft>
              <a:buFont typeface="Arial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Arial"/>
                <a:cs typeface="Arial"/>
              </a:rPr>
              <a:t>K. Pathak, J. Franch and S. K. Agrawal, “Velocity control of a wheeled inverted pendulum by partial feedback linearization,” Proc. 44th IEEE CDC, pp. 3988–3993, 2005.</a:t>
            </a:r>
          </a:p>
          <a:p>
            <a:pPr marL="430000" indent="-430000">
              <a:spcAft>
                <a:spcPts val="450"/>
              </a:spcAft>
              <a:buFont typeface="Arial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Arial"/>
                <a:cs typeface="Arial"/>
              </a:rPr>
              <a:t>P. Castillo, R. Lozano and A. Dzul, “Real-time stabilization of an inverted pendulum on a two-wheeled vehicle,” IEEE Int. Conf. on Control Applications, pp. 2533–2538, 2006.</a:t>
            </a:r>
          </a:p>
          <a:p>
            <a:pPr marL="430000" indent="-430000">
              <a:spcAft>
                <a:spcPts val="450"/>
              </a:spcAft>
              <a:buFont typeface="Arial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Arial"/>
                <a:cs typeface="Arial"/>
              </a:rPr>
              <a:t>R. Mahony, T. Hamel and J.-M. Pflimlin, “Nonlinear complementary filters on the special orthogonal Group 1,” IEEE Trans. Automatic Control, vol. 53, no. 5, pp. 1203–1218, 2008.</a:t>
            </a:r>
          </a:p>
          <a:p>
            <a:pPr marL="430000" indent="-430000">
              <a:spcAft>
                <a:spcPts val="450"/>
              </a:spcAft>
              <a:buFont typeface="Arial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Arial"/>
                <a:cs typeface="Arial"/>
              </a:rPr>
              <a:t>S. O. H. Madgwick, A. J. L. Harrison and R. Vaidyanathan, “Estimation of IMU and MARG orientation using a gradient descent algorithm,” IEEE ICORR, pp. 1–7, 2011.</a:t>
            </a:r>
          </a:p>
          <a:p>
            <a:pPr marL="430000" indent="-430000">
              <a:spcAft>
                <a:spcPts val="450"/>
              </a:spcAft>
              <a:buFont typeface="Arial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Arial"/>
                <a:cs typeface="Arial"/>
              </a:rPr>
              <a:t>D. E. Kirk, Optimal Control Theory: An Introduction. Dover Publications, 2004.</a:t>
            </a:r>
          </a:p>
          <a:p>
            <a:pPr marL="430000" indent="-430000">
              <a:spcAft>
                <a:spcPts val="450"/>
              </a:spcAft>
              <a:buFont typeface="Arial"/>
              <a:buAutoNum type="arabicPeriod"/>
            </a:pPr>
            <a:r>
              <a:rPr lang="en-US" sz="1250" dirty="0">
                <a:solidFill>
                  <a:srgbClr val="FFFFFF"/>
                </a:solidFill>
                <a:latin typeface="Arial"/>
                <a:cs typeface="Arial"/>
              </a:rPr>
              <a:t>K. Ogata, Modern Control Engineering, 5th ed. Prentice Hall, 2010.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22</a:t>
            </a:fld>
            <a:r>
              <a:rPr lang="en-US" dirty="0"/>
              <a:t>/24</a:t>
            </a:r>
            <a:endParaRPr lang="en-US" dirty="0">
              <a:latin typeface="+mj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CEP: Two-Wheeled Inverted Pendulum Self-Balancing Robot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7EAD-8BE0-3307-4E00-57E6003C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73313185"/>
      </p:ext>
    </p:extLst>
  </p:cSld>
  <p:clrMapOvr>
    <a:masterClrMapping/>
  </p:clrMapOvr>
  <p:transition advClick="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7EAD-8BE0-3307-4E00-57E6003C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QUESTIONS?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8A82F-7990-BFE2-99EC-D9FE4E212A37}"/>
              </a:ext>
            </a:extLst>
          </p:cNvPr>
          <p:cNvSpPr txBox="1"/>
          <p:nvPr/>
        </p:nvSpPr>
        <p:spPr>
          <a:xfrm>
            <a:off x="6546851" y="6027003"/>
            <a:ext cx="5645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kern="1200" dirty="0"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CEP: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Two-Wheeled Inverted Pendulum Self-Balancing Robot</a:t>
            </a:r>
          </a:p>
          <a:p>
            <a:pPr algn="r"/>
            <a:endParaRPr lang="en-US" sz="1600" kern="1200" dirty="0"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890095"/>
      </p:ext>
    </p:extLst>
  </p:cSld>
  <p:clrMapOvr>
    <a:masterClrMapping/>
  </p:clrMapOvr>
  <p:transition advClick="0">
    <p:fade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072C20E418A240A5C1431339DDA195" ma:contentTypeVersion="16" ma:contentTypeDescription="Create a new document." ma:contentTypeScope="" ma:versionID="291eef23fd7c2c98b41bfb4d9f17824b">
  <xsd:schema xmlns:xsd="http://www.w3.org/2001/XMLSchema" xmlns:xs="http://www.w3.org/2001/XMLSchema" xmlns:p="http://schemas.microsoft.com/office/2006/metadata/properties" xmlns:ns2="30c9249f-d813-433c-b61d-3a5604b33c8c" xmlns:ns3="c28e1103-0206-4002-a9ee-f80df76bf39b" targetNamespace="http://schemas.microsoft.com/office/2006/metadata/properties" ma:root="true" ma:fieldsID="abd46c31700a6ecb22347d34f96a4055" ns2:_="" ns3:_="">
    <xsd:import namespace="30c9249f-d813-433c-b61d-3a5604b33c8c"/>
    <xsd:import namespace="c28e1103-0206-4002-a9ee-f80df76bf3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c9249f-d813-433c-b61d-3a5604b33c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1b6d75b-5da6-464d-aa40-f1273986be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8e1103-0206-4002-a9ee-f80df76bf39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35e06508-a135-40f7-8523-22b55a50e414}" ma:internalName="TaxCatchAll" ma:showField="CatchAllData" ma:web="c28e1103-0206-4002-a9ee-f80df76bf3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B527A2-08D1-4664-8166-BD1FCC356E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c9249f-d813-433c-b61d-3a5604b33c8c"/>
    <ds:schemaRef ds:uri="c28e1103-0206-4002-a9ee-f80df76bf3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D7D1E1-B3D9-4BB5-9B73-4B191EB341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9904</TotalTime>
  <Words>1932</Words>
  <Application>Microsoft Office PowerPoint</Application>
  <PresentationFormat>Widescreen</PresentationFormat>
  <Paragraphs>249</Paragraphs>
  <Slides>24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Wingdings</vt:lpstr>
      <vt:lpstr>1_Office Theme</vt:lpstr>
      <vt:lpstr>Custom Design</vt:lpstr>
      <vt:lpstr>PowerPoint Presentation</vt:lpstr>
      <vt:lpstr>PowerPoint Presentation</vt:lpstr>
      <vt:lpstr>Sequence</vt:lpstr>
      <vt:lpstr>Project Aim</vt:lpstr>
      <vt:lpstr>Introduction</vt:lpstr>
      <vt:lpstr>Methodology</vt:lpstr>
      <vt:lpstr>State-Space Model and LQR Synthesis</vt:lpstr>
      <vt:lpstr>Rebuttal: Why Pure LQR Was Not Realisable</vt:lpstr>
      <vt:lpstr>State Estimation and Sensor Fusion</vt:lpstr>
      <vt:lpstr>Cascaded Control Architecture</vt:lpstr>
      <vt:lpstr>Deadband Remapping and Friction Equalisation</vt:lpstr>
      <vt:lpstr>Hardware System Architecture</vt:lpstr>
      <vt:lpstr>Electrical Interconnect Architecture</vt:lpstr>
      <vt:lpstr>Results</vt:lpstr>
      <vt:lpstr>Progressive Tuning Trajectory</vt:lpstr>
      <vt:lpstr>Final Locked Control Parameters</vt:lpstr>
      <vt:lpstr>Dynamic Performance and Disturbance Rejection</vt:lpstr>
      <vt:lpstr>DEMONSTRATION </vt:lpstr>
      <vt:lpstr>Conclusion</vt:lpstr>
      <vt:lpstr>Conclusion</vt:lpstr>
      <vt:lpstr>Future Recommendations</vt:lpstr>
      <vt:lpstr>References</vt:lpstr>
      <vt:lpstr>THANK YOU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QMAQ</dc:creator>
  <cp:lastModifiedBy>Abdul Muqtadir</cp:lastModifiedBy>
  <cp:revision>623</cp:revision>
  <dcterms:created xsi:type="dcterms:W3CDTF">2010-01-23T07:30:24Z</dcterms:created>
  <dcterms:modified xsi:type="dcterms:W3CDTF">2026-08-27T19:48:51Z</dcterms:modified>
</cp:coreProperties>
</file>