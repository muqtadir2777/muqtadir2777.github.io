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731520"/>
            <a:ext cx="10362895" cy="457200"/>
          </a:xfrm>
          <a:prstGeom prst="roundRect">
            <a:avLst/>
          </a:prstGeom>
          <a:solidFill>
            <a:srgbClr val="172A45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D4AF37"/>
                </a:solidFill>
              </a:defRPr>
            </a:pPr>
            <a:r>
              <a:t>EE / AV – 313 | COMPLEX ENGINEERING PROBLEM (CEP)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2895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Design, Simulation, and Multi-Iteration Optimization of a Super Wideband (3–18 GHz) Planar and Conformal Vivaldi Antenna</a:t>
            </a:r>
          </a:p>
          <a:p>
            <a:pPr algn="ctr">
              <a:spcBef>
                <a:spcPts val="800"/>
              </a:spcBef>
              <a:defRPr sz="1500">
                <a:solidFill>
                  <a:srgbClr val="B4CDEB"/>
                </a:solidFill>
              </a:defRPr>
            </a:pPr>
            <a:r>
              <a:t>Single-Layer CPW Technology on Rogers RT6035HTC with Conformal Aerodynamic Impairment Modeling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840480"/>
            <a:ext cx="4937760" cy="2011680"/>
          </a:xfrm>
          <a:prstGeom prst="roundRect">
            <a:avLst/>
          </a:prstGeom>
          <a:solidFill>
            <a:srgbClr val="172A45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D4AF37"/>
                </a:solidFill>
              </a:defRPr>
            </a:pPr>
            <a:r>
              <a:t>Department and Institution:</a:t>
            </a:r>
          </a:p>
          <a:p>
            <a:pPr>
              <a:spcBef>
                <a:spcPts val="600"/>
              </a:spcBef>
              <a:defRPr>
                <a:solidFill>
                  <a:srgbClr val="FFFFFF"/>
                </a:solidFill>
              </a:defRPr>
            </a:pPr>
            <a:r>
              <a:t>Dept. of Avionics Engineering</a:t>
            </a:r>
            <a:br/>
            <a:r>
              <a:t>NUST College of Aeronautical Engineering (CAE)</a:t>
            </a:r>
            <a:br/>
            <a:r>
              <a:t>Risalpur, Pakistan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39535" y="3840480"/>
            <a:ext cx="4937760" cy="2011680"/>
          </a:xfrm>
          <a:prstGeom prst="roundRect">
            <a:avLst/>
          </a:prstGeom>
          <a:solidFill>
            <a:srgbClr val="172A45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D4AF37"/>
                </a:solidFill>
              </a:defRPr>
            </a:pPr>
            <a:r>
              <a:t>Project Team:</a:t>
            </a:r>
          </a:p>
          <a:p>
            <a:pPr>
              <a:spcBef>
                <a:spcPts val="600"/>
              </a:spcBef>
              <a:defRPr>
                <a:solidFill>
                  <a:srgbClr val="FFFFFF"/>
                </a:solidFill>
              </a:defRPr>
            </a:pPr>
            <a:r>
              <a:t>• Abdul Muqtadir</a:t>
            </a:r>
            <a:br/>
            <a:r>
              <a:t>• Total Slides: 21</a:t>
            </a:r>
            <a:br/>
            <a:r>
              <a:t>• Operational Frequency: 3.0 to 18.0 GHz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Presentation Outline and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55080"/>
            <a:ext cx="10728655" cy="18288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C757D"/>
                </a:solidFill>
                <a:latin typeface="Arial"/>
              </a:defRPr>
            </a:pPr>
            <a:r>
              <a:t>CEP: Super Wideband Planar and Conformal Vivaldi Antenna for UAV/EW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72A45"/>
                </a:solidFill>
                <a:latin typeface="Arial"/>
              </a:defRPr>
            </a:pPr>
            <a:r>
              <a:t>2/21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80160"/>
            <a:ext cx="51663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0A192F"/>
                </a:solidFill>
              </a:defRPr>
            </a:pPr>
            <a:r>
              <a:t>1. Project Aim and Motivation</a:t>
            </a:r>
          </a:p>
          <a:p>
            <a:pPr>
              <a:spcBef>
                <a:spcPts val="400"/>
              </a:spcBef>
              <a:defRPr sz="1200">
                <a:solidFill>
                  <a:srgbClr val="212529"/>
                </a:solidFill>
              </a:defRPr>
            </a:pPr>
            <a:r>
              <a:t>Aeronautical seeker constraints and super wideband (3-18 GHz) operational objectives.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280160"/>
            <a:ext cx="51663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0A192F"/>
                </a:solidFill>
              </a:defRPr>
            </a:pPr>
            <a:r>
              <a:t>2. Theoretical Design and Formulation</a:t>
            </a:r>
          </a:p>
          <a:p>
            <a:pPr>
              <a:spcBef>
                <a:spcPts val="400"/>
              </a:spcBef>
              <a:defRPr sz="1200">
                <a:solidFill>
                  <a:srgbClr val="212529"/>
                </a:solidFill>
              </a:defRPr>
            </a:pPr>
            <a:r>
              <a:t>Rogers RT6035HTC substrate selection, CPW line synthesis, and exponential flare equations.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880360"/>
            <a:ext cx="51663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0A192F"/>
                </a:solidFill>
              </a:defRPr>
            </a:pPr>
            <a:r>
              <a:t>3. Multi-Model Evolutionary Progression</a:t>
            </a:r>
          </a:p>
          <a:p>
            <a:pPr>
              <a:spcBef>
                <a:spcPts val="400"/>
              </a:spcBef>
              <a:defRPr sz="1200">
                <a:solidFill>
                  <a:srgbClr val="212529"/>
                </a:solidFill>
              </a:defRPr>
            </a:pPr>
            <a:r>
              <a:t>Systematic evaluation of Models 1 to 4 and electromagnetic failure-mode diagnostics.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2880360"/>
            <a:ext cx="51663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0A192F"/>
                </a:solidFill>
              </a:defRPr>
            </a:pPr>
            <a:r>
              <a:t>4. CST Simulation Results and Return Loss</a:t>
            </a:r>
          </a:p>
          <a:p>
            <a:pPr>
              <a:spcBef>
                <a:spcPts val="400"/>
              </a:spcBef>
              <a:defRPr sz="1200">
                <a:solidFill>
                  <a:srgbClr val="212529"/>
                </a:solidFill>
              </a:defRPr>
            </a:pPr>
            <a:r>
              <a:t>S-parameter return loss validation (S11 &lt; -10 dB), directivity, and radiation patterns.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480560"/>
            <a:ext cx="51663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0A192F"/>
                </a:solidFill>
              </a:defRPr>
            </a:pPr>
            <a:r>
              <a:t>5. Conformal UAV/EW Array Analysis</a:t>
            </a:r>
          </a:p>
          <a:p>
            <a:pPr>
              <a:spcBef>
                <a:spcPts val="400"/>
              </a:spcBef>
              <a:defRPr sz="1200">
                <a:solidFill>
                  <a:srgbClr val="212529"/>
                </a:solidFill>
              </a:defRPr>
            </a:pPr>
            <a:r>
              <a:t>Curvature-induced phase distortion, mechanical strain tolerances, and mutual coupling (S21).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4480560"/>
            <a:ext cx="51663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0A192F"/>
                </a:solidFill>
              </a:defRPr>
            </a:pPr>
            <a:r>
              <a:t>6. Conclusion and Practical Impact</a:t>
            </a:r>
          </a:p>
          <a:p>
            <a:pPr>
              <a:spcBef>
                <a:spcPts val="400"/>
              </a:spcBef>
              <a:defRPr sz="1200">
                <a:solidFill>
                  <a:srgbClr val="212529"/>
                </a:solidFill>
              </a:defRPr>
            </a:pPr>
            <a:r>
              <a:t>Key technical achievements, EW platform adaptability, and future experimental scope.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Project Aim and Core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55080"/>
            <a:ext cx="10728655" cy="18288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C757D"/>
                </a:solidFill>
                <a:latin typeface="Arial"/>
              </a:defRPr>
            </a:pPr>
            <a:r>
              <a:t>CEP: Super Wideband Planar and Conformal Vivaldi Antenna for UAV/EW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72A45"/>
                </a:solidFill>
                <a:latin typeface="Arial"/>
              </a:defRPr>
            </a:pPr>
            <a:r>
              <a:t>3/21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80160"/>
            <a:ext cx="548640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463040"/>
            <a:ext cx="50292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200"/>
              </a:spcAft>
            </a:pPr>
            <a:r>
              <a:rPr b="1" sz="1300">
                <a:solidFill>
                  <a:srgbClr val="0A192F"/>
                </a:solidFill>
                <a:latin typeface="Arial"/>
              </a:rPr>
              <a:t>•  Super Wideband (SWB) Coverage: </a:t>
            </a:r>
            <a:r>
              <a:rPr b="0" sz="1300">
                <a:solidFill>
                  <a:srgbClr val="212529"/>
                </a:solidFill>
                <a:latin typeface="Arial"/>
              </a:rPr>
              <a:t>Design and simulate an end-fire traveling-wave antenna spanning 3.0 to 18.0 GHz (6:1 impedance bandwidth ratio) for radar and electronic warfare.</a:t>
            </a:r>
          </a:p>
          <a:p>
            <a:pPr>
              <a:spcBef>
                <a:spcPts val="400"/>
              </a:spcBef>
              <a:spcAft>
                <a:spcPts val="1200"/>
              </a:spcAft>
            </a:pPr>
            <a:r>
              <a:rPr b="1" sz="1300">
                <a:solidFill>
                  <a:srgbClr val="0A192F"/>
                </a:solidFill>
                <a:latin typeface="Arial"/>
              </a:rPr>
              <a:t>•  Ultra-Compact Planar Envelope: </a:t>
            </a:r>
            <a:r>
              <a:rPr b="0" sz="1300">
                <a:solidFill>
                  <a:srgbClr val="212529"/>
                </a:solidFill>
                <a:latin typeface="Arial"/>
              </a:rPr>
              <a:t>Synthesize a single-layer CPW Vivaldi layout on high-permittivity Rogers RT6035HTC with dimensions constrained to 50.00 x 98.08 x 0.508 mm³.</a:t>
            </a:r>
          </a:p>
          <a:p>
            <a:pPr>
              <a:spcBef>
                <a:spcPts val="400"/>
              </a:spcBef>
              <a:spcAft>
                <a:spcPts val="1200"/>
              </a:spcAft>
            </a:pPr>
            <a:r>
              <a:rPr b="1" sz="1300">
                <a:solidFill>
                  <a:srgbClr val="0A192F"/>
                </a:solidFill>
                <a:latin typeface="Arial"/>
              </a:rPr>
              <a:t>•  Parasitic Matching Enhancements: </a:t>
            </a:r>
            <a:r>
              <a:rPr b="0" sz="1300">
                <a:solidFill>
                  <a:srgbClr val="212529"/>
                </a:solidFill>
                <a:latin typeface="Arial"/>
              </a:rPr>
              <a:t>Integrate 4 wide curved side slits and 2 center circular tuning slots to suppress standing-wave reflections and achieve S11 &lt; -10 dB.</a:t>
            </a:r>
          </a:p>
          <a:p>
            <a:pPr>
              <a:spcBef>
                <a:spcPts val="400"/>
              </a:spcBef>
              <a:spcAft>
                <a:spcPts val="1200"/>
              </a:spcAft>
            </a:pPr>
            <a:r>
              <a:rPr b="1" sz="1300">
                <a:solidFill>
                  <a:srgbClr val="0A192F"/>
                </a:solidFill>
                <a:latin typeface="Arial"/>
              </a:rPr>
              <a:t>•  Conformal Aerodynamic Modeling: </a:t>
            </a:r>
            <a:r>
              <a:rPr b="0" sz="1300">
                <a:solidFill>
                  <a:srgbClr val="212529"/>
                </a:solidFill>
                <a:latin typeface="Arial"/>
              </a:rPr>
              <a:t>Model real-time impairments on curved UAV mockups (D = 23, 27, 30 cm), analyzing phase distortion, mechanical strain, and mutual coupling.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1280160"/>
            <a:ext cx="4967935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g1_Antenna_Geomet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463040"/>
            <a:ext cx="2443942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Problem Statement and Avionics Motivation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55080"/>
            <a:ext cx="10728655" cy="18288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C757D"/>
                </a:solidFill>
                <a:latin typeface="Arial"/>
              </a:defRPr>
            </a:pPr>
            <a:r>
              <a:t>CEP: Super Wideband Planar and Conformal Vivaldi Antenna for UAV/EW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72A45"/>
                </a:solidFill>
                <a:latin typeface="Arial"/>
              </a:defRPr>
            </a:pPr>
            <a:r>
              <a:t>4/21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80160"/>
            <a:ext cx="10728655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463040"/>
            <a:ext cx="1027145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200"/>
              </a:spcAft>
            </a:pPr>
            <a:r>
              <a:rPr b="1" sz="1300">
                <a:solidFill>
                  <a:srgbClr val="0A192F"/>
                </a:solidFill>
                <a:latin typeface="Arial"/>
              </a:rPr>
              <a:t>•  Airborne Seeker Bottlenecks: </a:t>
            </a:r>
            <a:r>
              <a:rPr b="0" sz="1300">
                <a:solidFill>
                  <a:srgbClr val="212529"/>
                </a:solidFill>
                <a:latin typeface="Arial"/>
              </a:rPr>
              <a:t>Conventional horn and LPDA antennas are bulky, heavy, and introduce severe aerodynamic drag on missile seeker heads and compact UAVs.</a:t>
            </a:r>
          </a:p>
          <a:p>
            <a:pPr>
              <a:spcBef>
                <a:spcPts val="400"/>
              </a:spcBef>
              <a:spcAft>
                <a:spcPts val="1200"/>
              </a:spcAft>
            </a:pPr>
            <a:r>
              <a:rPr b="1" sz="1300">
                <a:solidFill>
                  <a:srgbClr val="0A192F"/>
                </a:solidFill>
                <a:latin typeface="Arial"/>
              </a:rPr>
              <a:t>•  Spiral and Sinuous Limitations: </a:t>
            </a:r>
            <a:r>
              <a:rPr b="0" sz="1300">
                <a:solidFill>
                  <a:srgbClr val="212529"/>
                </a:solidFill>
                <a:latin typeface="Arial"/>
              </a:rPr>
              <a:t>Bidirectional radiation requires lossy absorber-lined back cavities, which degrade total radiation efficiency to under 50%.</a:t>
            </a:r>
          </a:p>
          <a:p>
            <a:pPr>
              <a:spcBef>
                <a:spcPts val="400"/>
              </a:spcBef>
              <a:spcAft>
                <a:spcPts val="1200"/>
              </a:spcAft>
            </a:pPr>
            <a:r>
              <a:rPr b="1" sz="1300">
                <a:solidFill>
                  <a:srgbClr val="0A192F"/>
                </a:solidFill>
                <a:latin typeface="Arial"/>
              </a:rPr>
              <a:t>•  Single-Layer CPW Advantages: </a:t>
            </a:r>
            <a:r>
              <a:rPr b="0" sz="1300">
                <a:solidFill>
                  <a:srgbClr val="212529"/>
                </a:solidFill>
                <a:latin typeface="Arial"/>
              </a:rPr>
              <a:t>CPW feeding eliminates complex through-hole via drilling and front-to-back alignment errors, drastically simplifying PCB fabrication.</a:t>
            </a:r>
          </a:p>
          <a:p>
            <a:pPr>
              <a:spcBef>
                <a:spcPts val="400"/>
              </a:spcBef>
              <a:spcAft>
                <a:spcPts val="1200"/>
              </a:spcAft>
            </a:pPr>
            <a:r>
              <a:rPr b="1" sz="1300">
                <a:solidFill>
                  <a:srgbClr val="0A192F"/>
                </a:solidFill>
                <a:latin typeface="Arial"/>
              </a:rPr>
              <a:t>•  Aerodynamic Stealth Integration: </a:t>
            </a:r>
            <a:r>
              <a:rPr b="0" sz="1300">
                <a:solidFill>
                  <a:srgbClr val="212529"/>
                </a:solidFill>
                <a:latin typeface="Arial"/>
              </a:rPr>
              <a:t>Conforming the antenna flush with curved composite airframes preserves aircraft aerodynamics while maintaining low radar cross-section (RCS).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1828800"/>
            <a:ext cx="9448495" cy="3200400"/>
          </a:xfrm>
          <a:prstGeom prst="rect">
            <a:avLst/>
          </a:prstGeom>
          <a:solidFill>
            <a:srgbClr val="172A45"/>
          </a:solidFill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2103120"/>
            <a:ext cx="85340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D4AF37"/>
                </a:solidFill>
                <a:latin typeface="Arial"/>
              </a:defRPr>
            </a:pPr>
            <a:r>
              <a:t>SECTION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651760"/>
            <a:ext cx="85340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rial"/>
              </a:defRPr>
            </a:pPr>
            <a:r>
              <a:t>Theoretical Design and Formulation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931920"/>
            <a:ext cx="85340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B4C8DC"/>
                </a:solidFill>
                <a:latin typeface="Arial"/>
              </a:defRPr>
            </a:pPr>
            <a:r>
              <a:t>Substrate selection, exponential flare equations, and CPW feed synthesis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C757D"/>
                </a:solidFill>
              </a:defRPr>
            </a:pPr>
            <a:r>
              <a:t>5/21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Substrate Selection and Exponential Flare Equations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55080"/>
            <a:ext cx="10728655" cy="18288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C757D"/>
                </a:solidFill>
                <a:latin typeface="Arial"/>
              </a:defRPr>
            </a:pPr>
            <a:r>
              <a:t>CEP: Super Wideband Planar and Conformal Vivaldi Antenna for UAV/EW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72A45"/>
                </a:solidFill>
                <a:latin typeface="Arial"/>
              </a:defRPr>
            </a:pPr>
            <a:r>
              <a:t>6/21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80160"/>
            <a:ext cx="548640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463040"/>
            <a:ext cx="50292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200"/>
              </a:spcAft>
            </a:pPr>
            <a:r>
              <a:rPr b="1" sz="1300">
                <a:solidFill>
                  <a:srgbClr val="0A192F"/>
                </a:solidFill>
                <a:latin typeface="Arial"/>
              </a:rPr>
              <a:t>•  Rogers RT6035HTC Substrate: </a:t>
            </a:r>
            <a:r>
              <a:rPr b="0" sz="1300">
                <a:solidFill>
                  <a:srgbClr val="212529"/>
                </a:solidFill>
                <a:latin typeface="Arial"/>
              </a:rPr>
              <a:t>Selected for high thermal conductivity (1.44 W/m/K), dielectric constant εr = 3.60, loss tangent tanδ = 0.0023, and thickness h = 0.508 mm (20 mil).</a:t>
            </a:r>
          </a:p>
          <a:p>
            <a:pPr>
              <a:spcBef>
                <a:spcPts val="400"/>
              </a:spcBef>
              <a:spcAft>
                <a:spcPts val="1200"/>
              </a:spcAft>
            </a:pPr>
            <a:r>
              <a:rPr b="1" sz="1300">
                <a:solidFill>
                  <a:srgbClr val="0A192F"/>
                </a:solidFill>
                <a:latin typeface="Arial"/>
              </a:rPr>
              <a:t>•  Wavelength Compression (32% Size Cut): </a:t>
            </a:r>
            <a:r>
              <a:rPr b="0" sz="1300">
                <a:solidFill>
                  <a:srgbClr val="212529"/>
                </a:solidFill>
                <a:latin typeface="Arial"/>
              </a:rPr>
              <a:t>Higher permittivity compresses guided wavelength (λg = c / [f√εeff]), shrinking footprint from 60x120 mm² (RT5880) to 50x98.08 mm².</a:t>
            </a:r>
          </a:p>
          <a:p>
            <a:pPr>
              <a:spcBef>
                <a:spcPts val="400"/>
              </a:spcBef>
              <a:spcAft>
                <a:spcPts val="1200"/>
              </a:spcAft>
            </a:pPr>
            <a:r>
              <a:rPr b="1" sz="1300">
                <a:solidFill>
                  <a:srgbClr val="0A192F"/>
                </a:solidFill>
                <a:latin typeface="Arial"/>
              </a:rPr>
              <a:t>•  Exponential Flare Equation: </a:t>
            </a:r>
            <a:r>
              <a:rPr b="0" sz="1300">
                <a:solidFill>
                  <a:srgbClr val="212529"/>
                </a:solidFill>
                <a:latin typeface="Arial"/>
              </a:rPr>
              <a:t>Aperture curve follows y(x) = C1 * exp(R * x) + C2 with opening rate R = 0.16 mm⁻¹, C1 = -0.6657 mm, and C2 = 28.7327 mm.</a:t>
            </a:r>
          </a:p>
          <a:p>
            <a:pPr>
              <a:spcBef>
                <a:spcPts val="400"/>
              </a:spcBef>
              <a:spcAft>
                <a:spcPts val="1200"/>
              </a:spcAft>
            </a:pPr>
            <a:r>
              <a:rPr b="1" sz="1300">
                <a:solidFill>
                  <a:srgbClr val="0A192F"/>
                </a:solidFill>
                <a:latin typeface="Arial"/>
              </a:rPr>
              <a:t>•  Aperture and Throat Boundaries: </a:t>
            </a:r>
            <a:r>
              <a:rPr b="0" sz="1300">
                <a:solidFill>
                  <a:srgbClr val="212529"/>
                </a:solidFill>
                <a:latin typeface="Arial"/>
              </a:rPr>
              <a:t>Mouth opening width is 2*x1 = 47.0 mm at Y = 0 mm, flaring from center slotline width W_slot = 1.20 mm (x0 = 0.60 mm).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1280160"/>
            <a:ext cx="4967935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g2_Optimized_1to1_CAD_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463040"/>
            <a:ext cx="2443942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CPW Feed Line and Impedance Matching Network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55080"/>
            <a:ext cx="10728655" cy="18288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C757D"/>
                </a:solidFill>
                <a:latin typeface="Arial"/>
              </a:defRPr>
            </a:pPr>
            <a:r>
              <a:t>CEP: Super Wideband Planar and Conformal Vivaldi Antenna for UAV/EW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72A45"/>
                </a:solidFill>
                <a:latin typeface="Arial"/>
              </a:defRPr>
            </a:pPr>
            <a:r>
              <a:t>7/21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80160"/>
            <a:ext cx="10728655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463040"/>
            <a:ext cx="1027145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200"/>
              </a:spcAft>
            </a:pPr>
            <a:r>
              <a:rPr b="1" sz="1300">
                <a:solidFill>
                  <a:srgbClr val="0A192F"/>
                </a:solidFill>
                <a:latin typeface="Arial"/>
              </a:rPr>
              <a:t>•  Quasi-Static 50-Ohm Matching: </a:t>
            </a:r>
            <a:r>
              <a:rPr b="0" sz="1300">
                <a:solidFill>
                  <a:srgbClr val="212529"/>
                </a:solidFill>
                <a:latin typeface="Arial"/>
              </a:rPr>
              <a:t>Synthesized CPW strip width Mw = 1.80 mm and ground gap g = 0.50 mm, achieving exact characteristic impedance Z0,cpw = 50.19 Ohms on RT6035HTC.</a:t>
            </a:r>
          </a:p>
          <a:p>
            <a:pPr>
              <a:spcBef>
                <a:spcPts val="400"/>
              </a:spcBef>
              <a:spcAft>
                <a:spcPts val="1200"/>
              </a:spcAft>
            </a:pPr>
            <a:r>
              <a:rPr b="1" sz="1300">
                <a:solidFill>
                  <a:srgbClr val="0A192F"/>
                </a:solidFill>
                <a:latin typeface="Arial"/>
              </a:rPr>
              <a:t>•  Step Discontinuity Elimination: </a:t>
            </a:r>
            <a:r>
              <a:rPr b="0" sz="1300">
                <a:solidFill>
                  <a:srgbClr val="212529"/>
                </a:solidFill>
                <a:latin typeface="Arial"/>
              </a:rPr>
              <a:t>L-shaped horizontal CPW arm transitions smoothly across the 1.2 mm slotline, eliminating inductive step mismatches.</a:t>
            </a:r>
          </a:p>
          <a:p>
            <a:pPr>
              <a:spcBef>
                <a:spcPts val="400"/>
              </a:spcBef>
              <a:spcAft>
                <a:spcPts val="1200"/>
              </a:spcAft>
            </a:pPr>
            <a:r>
              <a:rPr b="1" sz="1300">
                <a:solidFill>
                  <a:srgbClr val="0A192F"/>
                </a:solidFill>
                <a:latin typeface="Arial"/>
              </a:rPr>
              <a:t>•  P2 Back-Cavity Fillet: </a:t>
            </a:r>
            <a:r>
              <a:rPr b="0" sz="1300">
                <a:solidFill>
                  <a:srgbClr val="212529"/>
                </a:solidFill>
                <a:latin typeface="Arial"/>
              </a:rPr>
              <a:t>Smooth convex fillet (R = 5.5 mm) flaring to Y = 98.08 mm prevents open-stub reactive reflections without cutting large resonant cavity holes.</a:t>
            </a:r>
          </a:p>
          <a:p>
            <a:pPr>
              <a:spcBef>
                <a:spcPts val="400"/>
              </a:spcBef>
              <a:spcAft>
                <a:spcPts val="1200"/>
              </a:spcAft>
            </a:pPr>
            <a:r>
              <a:rPr b="1" sz="1300">
                <a:solidFill>
                  <a:srgbClr val="0A192F"/>
                </a:solidFill>
                <a:latin typeface="Arial"/>
              </a:rPr>
              <a:t>•  Waveguide Port Excitation: </a:t>
            </a:r>
            <a:r>
              <a:rPr b="0" sz="1300">
                <a:solidFill>
                  <a:srgbClr val="212529"/>
                </a:solidFill>
                <a:latin typeface="Arial"/>
              </a:rPr>
              <a:t>Single-mode TE/quasi-TEM waveguide port calibrated flush at Y = 98.08 mm with expanded open boundary conditions in CST.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1828800"/>
            <a:ext cx="9448495" cy="3200400"/>
          </a:xfrm>
          <a:prstGeom prst="rect">
            <a:avLst/>
          </a:prstGeom>
          <a:solidFill>
            <a:srgbClr val="172A45"/>
          </a:solidFill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2103120"/>
            <a:ext cx="85340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D4AF37"/>
                </a:solidFill>
                <a:latin typeface="Arial"/>
              </a:defRPr>
            </a:pPr>
            <a:r>
              <a:t>SECTION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651760"/>
            <a:ext cx="85340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rial"/>
              </a:defRPr>
            </a:pPr>
            <a:r>
              <a:t>Multi-Model Evolutionary Progression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931920"/>
            <a:ext cx="85340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B4C8DC"/>
                </a:solidFill>
                <a:latin typeface="Arial"/>
              </a:defRPr>
            </a:pPr>
            <a:r>
              <a:t>Systematic evaluation of Models 1 to 4 and failure-mode diagnostics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C757D"/>
                </a:solidFill>
              </a:defRPr>
            </a:pPr>
            <a:r>
              <a:t>8/21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Model 1 and Model 2: Initial Architectures and Diagnostics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55080"/>
            <a:ext cx="10728655" cy="18288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C757D"/>
                </a:solidFill>
                <a:latin typeface="Arial"/>
              </a:defRPr>
            </a:pPr>
            <a:r>
              <a:t>CEP: Super Wideband Planar and Conformal Vivaldi Antenna for UAV/EW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72A45"/>
                </a:solidFill>
                <a:latin typeface="Arial"/>
              </a:defRPr>
            </a:pPr>
            <a:r>
              <a:t>9/21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80160"/>
            <a:ext cx="548640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463040"/>
            <a:ext cx="50292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200"/>
              </a:spcAft>
            </a:pPr>
            <a:r>
              <a:rPr b="1" sz="1300">
                <a:solidFill>
                  <a:srgbClr val="0A192F"/>
                </a:solidFill>
                <a:latin typeface="Arial"/>
              </a:rPr>
              <a:t>•  Model 1 (Microstrip on RT5880): </a:t>
            </a:r>
            <a:r>
              <a:rPr b="0" sz="1300">
                <a:solidFill>
                  <a:srgbClr val="212529"/>
                </a:solidFill>
                <a:latin typeface="Arial"/>
              </a:rPr>
              <a:t>Double-sided microstrip-to-slotline transition on low-permittivity Rogers RT5880 (εr = 2.2); required oversized footprint (60x120 mm²).</a:t>
            </a:r>
          </a:p>
          <a:p>
            <a:pPr>
              <a:spcBef>
                <a:spcPts val="400"/>
              </a:spcBef>
              <a:spcAft>
                <a:spcPts val="1200"/>
              </a:spcAft>
            </a:pPr>
            <a:r>
              <a:rPr b="1" sz="1300">
                <a:solidFill>
                  <a:srgbClr val="0A192F"/>
                </a:solidFill>
                <a:latin typeface="Arial"/>
              </a:rPr>
              <a:t>•  Model 1 Failure Mode: </a:t>
            </a:r>
            <a:r>
              <a:rPr b="0" sz="1300">
                <a:solidFill>
                  <a:srgbClr val="212529"/>
                </a:solidFill>
                <a:latin typeface="Arial"/>
              </a:rPr>
              <a:t>Through-hole via grounded directly to the front copper sheet, creating a DC/RF short circuit and severe reflection (S11 ≈ -0.5 dB).</a:t>
            </a:r>
          </a:p>
          <a:p>
            <a:pPr>
              <a:spcBef>
                <a:spcPts val="400"/>
              </a:spcBef>
              <a:spcAft>
                <a:spcPts val="1200"/>
              </a:spcAft>
            </a:pPr>
            <a:r>
              <a:rPr b="1" sz="1300">
                <a:solidFill>
                  <a:srgbClr val="0A192F"/>
                </a:solidFill>
                <a:latin typeface="Arial"/>
              </a:rPr>
              <a:t>•  Model 2 (CPW on RT6035HTC): </a:t>
            </a:r>
            <a:r>
              <a:rPr b="0" sz="1300">
                <a:solidFill>
                  <a:srgbClr val="212529"/>
                </a:solidFill>
                <a:latin typeface="Arial"/>
              </a:rPr>
              <a:t>Migrated to single-layer CPW with nominal strip width Mw = 4.0 mm and gap g = 0.5 mm on Rogers RT6035HTC (50x98.08 mm²).</a:t>
            </a:r>
          </a:p>
          <a:p>
            <a:pPr>
              <a:spcBef>
                <a:spcPts val="400"/>
              </a:spcBef>
              <a:spcAft>
                <a:spcPts val="1200"/>
              </a:spcAft>
            </a:pPr>
            <a:r>
              <a:rPr b="1" sz="1300">
                <a:solidFill>
                  <a:srgbClr val="0A192F"/>
                </a:solidFill>
                <a:latin typeface="Arial"/>
              </a:rPr>
              <a:t>•  Model 2 Failure Mode: </a:t>
            </a:r>
            <a:r>
              <a:rPr b="0" sz="1300">
                <a:solidFill>
                  <a:srgbClr val="212529"/>
                </a:solidFill>
                <a:latin typeface="Arial"/>
              </a:rPr>
              <a:t>Line impedance was only Z0 = 33.73 Ohms; 50-Ohm port mismatch generated periodic standing-wave reflection ripples rising to -3 dB.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1280160"/>
            <a:ext cx="4967935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Model1_Microstrip_Duroid5880_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463040"/>
            <a:ext cx="4572000" cy="454818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Model 3 and Model 4: Cavity Defect and 1:1 Optimization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55080"/>
            <a:ext cx="10728655" cy="18288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C757D"/>
                </a:solidFill>
                <a:latin typeface="Arial"/>
              </a:defRPr>
            </a:pPr>
            <a:r>
              <a:t>CEP: Super Wideband Planar and Conformal Vivaldi Antenna for UAV/EW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72A45"/>
                </a:solidFill>
                <a:latin typeface="Arial"/>
              </a:defRPr>
            </a:pPr>
            <a:r>
              <a:t>10/21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80160"/>
            <a:ext cx="548640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463040"/>
            <a:ext cx="50292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200"/>
              </a:spcAft>
            </a:pPr>
            <a:r>
              <a:rPr b="1" sz="1300">
                <a:solidFill>
                  <a:srgbClr val="0A192F"/>
                </a:solidFill>
                <a:latin typeface="Arial"/>
              </a:rPr>
              <a:t>•  Model 3 (Cavity-Hole Defect): </a:t>
            </a:r>
            <a:r>
              <a:rPr b="0" sz="1300">
                <a:solidFill>
                  <a:srgbClr val="212529"/>
                </a:solidFill>
                <a:latin typeface="Arial"/>
              </a:rPr>
              <a:t>Over-etched circular hole at P2 created an open-circuited stub (L_stub ≈ 18 mm), generating destructive phase cancellation ripples every 1.25 GHz.</a:t>
            </a:r>
          </a:p>
          <a:p>
            <a:pPr>
              <a:spcBef>
                <a:spcPts val="400"/>
              </a:spcBef>
              <a:spcAft>
                <a:spcPts val="1200"/>
              </a:spcAft>
            </a:pPr>
            <a:r>
              <a:rPr b="1" sz="1300">
                <a:solidFill>
                  <a:srgbClr val="0A192F"/>
                </a:solidFill>
                <a:latin typeface="Arial"/>
              </a:rPr>
              <a:t>•  Model 4 (Solid Upper Wings and P2 Fillet): </a:t>
            </a:r>
            <a:r>
              <a:rPr b="0" sz="1300">
                <a:solidFill>
                  <a:srgbClr val="212529"/>
                </a:solidFill>
                <a:latin typeface="Arial"/>
              </a:rPr>
              <a:t>Restored solid copper upper wings and smooth convex fillet (R = 5.5 mm), completely eliminating standing-wave ripples.</a:t>
            </a:r>
          </a:p>
          <a:p>
            <a:pPr>
              <a:spcBef>
                <a:spcPts val="400"/>
              </a:spcBef>
              <a:spcAft>
                <a:spcPts val="1200"/>
              </a:spcAft>
            </a:pPr>
            <a:r>
              <a:rPr b="1" sz="1300">
                <a:solidFill>
                  <a:srgbClr val="0A192F"/>
                </a:solidFill>
                <a:latin typeface="Arial"/>
              </a:rPr>
              <a:t>•  Parasitic Curved Ground Slits: </a:t>
            </a:r>
            <a:r>
              <a:rPr b="0" sz="1300">
                <a:solidFill>
                  <a:srgbClr val="212529"/>
                </a:solidFill>
                <a:latin typeface="Arial"/>
              </a:rPr>
              <a:t>Integrated 4 wide curved side slits (Y = 18 mm, 40 mm) to lengthen surface current trajectories and improve intermediate frequency matching.</a:t>
            </a:r>
          </a:p>
          <a:p>
            <a:pPr>
              <a:spcBef>
                <a:spcPts val="400"/>
              </a:spcBef>
              <a:spcAft>
                <a:spcPts val="1200"/>
              </a:spcAft>
            </a:pPr>
            <a:r>
              <a:rPr b="1" sz="1300">
                <a:solidFill>
                  <a:srgbClr val="0A192F"/>
                </a:solidFill>
                <a:latin typeface="Arial"/>
              </a:rPr>
              <a:t>•  High-Frequency Tuning Slots: </a:t>
            </a:r>
            <a:r>
              <a:rPr b="0" sz="1300">
                <a:solidFill>
                  <a:srgbClr val="212529"/>
                </a:solidFill>
                <a:latin typeface="Arial"/>
              </a:rPr>
              <a:t>Added 2 circular tuning slots (R = 1.8 mm) at Y = 55 mm and 47 mm to suppress higher-order cross-polarization and mode distortion.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1280160"/>
            <a:ext cx="4967935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Model4_Fig1_Rebuilt_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463040"/>
            <a:ext cx="4389120" cy="497573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1828800"/>
            <a:ext cx="9448495" cy="3200400"/>
          </a:xfrm>
          <a:prstGeom prst="rect">
            <a:avLst/>
          </a:prstGeom>
          <a:solidFill>
            <a:srgbClr val="172A45"/>
          </a:solidFill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2103120"/>
            <a:ext cx="85340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D4AF37"/>
                </a:solidFill>
                <a:latin typeface="Arial"/>
              </a:defRPr>
            </a:pPr>
            <a:r>
              <a:t>SECTION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651760"/>
            <a:ext cx="85340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rial"/>
              </a:defRPr>
            </a:pPr>
            <a:r>
              <a:t>Simulation Results and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931920"/>
            <a:ext cx="85340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B4C8DC"/>
                </a:solidFill>
                <a:latin typeface="Arial"/>
              </a:defRPr>
            </a:pPr>
            <a:r>
              <a:t>S-parameter return loss, bandwidth validation, and radiation patterns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C757D"/>
                </a:solidFill>
              </a:defRPr>
            </a:pPr>
            <a:r>
              <a:t>11/21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Reflection Coefficient (S11) and Bandwidth Validation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55080"/>
            <a:ext cx="10728655" cy="18288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C757D"/>
                </a:solidFill>
                <a:latin typeface="Arial"/>
              </a:defRPr>
            </a:pPr>
            <a:r>
              <a:t>CEP: Super Wideband Planar and Conformal Vivaldi Antenna for UAV/EW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72A45"/>
                </a:solidFill>
                <a:latin typeface="Arial"/>
              </a:defRPr>
            </a:pPr>
            <a:r>
              <a:t>12/21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80160"/>
            <a:ext cx="548640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463040"/>
            <a:ext cx="50292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200"/>
              </a:spcAft>
            </a:pPr>
            <a:r>
              <a:rPr b="1" sz="1300">
                <a:solidFill>
                  <a:srgbClr val="0A192F"/>
                </a:solidFill>
                <a:latin typeface="Arial"/>
              </a:rPr>
              <a:t>•  Super Wideband 3–18 GHz Coverage: </a:t>
            </a:r>
            <a:r>
              <a:rPr b="0" sz="1300">
                <a:solidFill>
                  <a:srgbClr val="212529"/>
                </a:solidFill>
                <a:latin typeface="Arial"/>
              </a:rPr>
              <a:t>Simulated return loss remains strictly below -10 dB across the entire 3.0 to 18.0 GHz band, establishing a continuous 6:1 bandwidth.</a:t>
            </a:r>
          </a:p>
          <a:p>
            <a:pPr>
              <a:spcBef>
                <a:spcPts val="400"/>
              </a:spcBef>
              <a:spcAft>
                <a:spcPts val="1200"/>
              </a:spcAft>
            </a:pPr>
            <a:r>
              <a:rPr b="1" sz="1300">
                <a:solidFill>
                  <a:srgbClr val="0A192F"/>
                </a:solidFill>
                <a:latin typeface="Arial"/>
              </a:rPr>
              <a:t>•  Deep Resonance Nulls: </a:t>
            </a:r>
            <a:r>
              <a:rPr b="0" sz="1300">
                <a:solidFill>
                  <a:srgbClr val="212529"/>
                </a:solidFill>
                <a:latin typeface="Arial"/>
              </a:rPr>
              <a:t>Exhibits exceptional impedance matching dips reaching -42.1 dB at 5.5 GHz, -28.6 dB at 7.0 GHz, -29.4 dB at 9.3 GHz, and -30.5 dB at 13.7 GHz.</a:t>
            </a:r>
          </a:p>
          <a:p>
            <a:pPr>
              <a:spcBef>
                <a:spcPts val="400"/>
              </a:spcBef>
              <a:spcAft>
                <a:spcPts val="1200"/>
              </a:spcAft>
            </a:pPr>
            <a:r>
              <a:rPr b="1" sz="1300">
                <a:solidFill>
                  <a:srgbClr val="0A192F"/>
                </a:solidFill>
                <a:latin typeface="Arial"/>
              </a:rPr>
              <a:t>•  Mid-Band Reflection Suppression: </a:t>
            </a:r>
            <a:r>
              <a:rPr b="0" sz="1300">
                <a:solidFill>
                  <a:srgbClr val="212529"/>
                </a:solidFill>
                <a:latin typeface="Arial"/>
              </a:rPr>
              <a:t>Parasitic curved side slits successfully eliminate intermediate frequency reflection humps between 6 and 12 GHz.</a:t>
            </a:r>
          </a:p>
          <a:p>
            <a:pPr>
              <a:spcBef>
                <a:spcPts val="400"/>
              </a:spcBef>
              <a:spcAft>
                <a:spcPts val="1200"/>
              </a:spcAft>
            </a:pPr>
            <a:r>
              <a:rPr b="1" sz="1300">
                <a:solidFill>
                  <a:srgbClr val="0A192F"/>
                </a:solidFill>
                <a:latin typeface="Arial"/>
              </a:rPr>
              <a:t>•  High-Frequency Return Loss Stability: </a:t>
            </a:r>
            <a:r>
              <a:rPr b="0" sz="1300">
                <a:solidFill>
                  <a:srgbClr val="212529"/>
                </a:solidFill>
                <a:latin typeface="Arial"/>
              </a:rPr>
              <a:t>Circular tuning slots maintain S11 &lt; -17 dB at 18.0 GHz, validating end-fire traveling-wave radiation mode.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1280160"/>
            <a:ext cx="4967935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Model4_Final_Optimized_S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645920"/>
            <a:ext cx="4572000" cy="155045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Radiation Patterns and Gain Characteristics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55080"/>
            <a:ext cx="10728655" cy="18288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C757D"/>
                </a:solidFill>
                <a:latin typeface="Arial"/>
              </a:defRPr>
            </a:pPr>
            <a:r>
              <a:t>CEP: Super Wideband Planar and Conformal Vivaldi Antenna for UAV/EW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72A45"/>
                </a:solidFill>
                <a:latin typeface="Arial"/>
              </a:defRPr>
            </a:pPr>
            <a:r>
              <a:t>13/21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80160"/>
            <a:ext cx="10728655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463040"/>
            <a:ext cx="1027145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200"/>
              </a:spcAft>
            </a:pPr>
            <a:r>
              <a:rPr b="1" sz="1300">
                <a:solidFill>
                  <a:srgbClr val="0A192F"/>
                </a:solidFill>
                <a:latin typeface="Arial"/>
              </a:rPr>
              <a:t>•  End-Fire Directional Radiation: </a:t>
            </a:r>
            <a:r>
              <a:rPr b="0" sz="1300">
                <a:solidFill>
                  <a:srgbClr val="212529"/>
                </a:solidFill>
                <a:latin typeface="Arial"/>
              </a:rPr>
              <a:t>Main beam directed strictly toward the flaring aperture (+Y axis) across all frequencies from 3 to 18 GHz.</a:t>
            </a:r>
          </a:p>
          <a:p>
            <a:pPr>
              <a:spcBef>
                <a:spcPts val="400"/>
              </a:spcBef>
              <a:spcAft>
                <a:spcPts val="1200"/>
              </a:spcAft>
            </a:pPr>
            <a:r>
              <a:rPr b="1" sz="1300">
                <a:solidFill>
                  <a:srgbClr val="0A192F"/>
                </a:solidFill>
                <a:latin typeface="Arial"/>
              </a:rPr>
              <a:t>•  Peak Realized Gain Evolution: </a:t>
            </a:r>
            <a:r>
              <a:rPr b="0" sz="1300">
                <a:solidFill>
                  <a:srgbClr val="212529"/>
                </a:solidFill>
                <a:latin typeface="Arial"/>
              </a:rPr>
              <a:t>Realized gain scales smoothly from 4.2 dBi at 3.0 GHz, 6.8 dBi at 9.0 GHz, to 9.5 dBi at 18.0 GHz.</a:t>
            </a:r>
          </a:p>
          <a:p>
            <a:pPr>
              <a:spcBef>
                <a:spcPts val="400"/>
              </a:spcBef>
              <a:spcAft>
                <a:spcPts val="1200"/>
              </a:spcAft>
            </a:pPr>
            <a:r>
              <a:rPr b="1" sz="1300">
                <a:solidFill>
                  <a:srgbClr val="0A192F"/>
                </a:solidFill>
                <a:latin typeface="Arial"/>
              </a:rPr>
              <a:t>•  Symmetric E-Plane and H-Plane Cuts: </a:t>
            </a:r>
            <a:r>
              <a:rPr b="0" sz="1300">
                <a:solidFill>
                  <a:srgbClr val="212529"/>
                </a:solidFill>
                <a:latin typeface="Arial"/>
              </a:rPr>
              <a:t>Maintains stable beamwidth with cross-polarization discrimination exceeding 18 dB along the boresight.</a:t>
            </a:r>
          </a:p>
          <a:p>
            <a:pPr>
              <a:spcBef>
                <a:spcPts val="400"/>
              </a:spcBef>
              <a:spcAft>
                <a:spcPts val="1200"/>
              </a:spcAft>
            </a:pPr>
            <a:r>
              <a:rPr b="1" sz="1300">
                <a:solidFill>
                  <a:srgbClr val="0A192F"/>
                </a:solidFill>
                <a:latin typeface="Arial"/>
              </a:rPr>
              <a:t>•  Front-to-Back Ratio (&gt; 15 dB): </a:t>
            </a:r>
            <a:r>
              <a:rPr b="0" sz="1300">
                <a:solidFill>
                  <a:srgbClr val="212529"/>
                </a:solidFill>
                <a:latin typeface="Arial"/>
              </a:rPr>
              <a:t>Solid copper wings and optimized exponential profile suppress back-lobe radiation, maximizing forward directivity.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1828800"/>
            <a:ext cx="9448495" cy="3200400"/>
          </a:xfrm>
          <a:prstGeom prst="rect">
            <a:avLst/>
          </a:prstGeom>
          <a:solidFill>
            <a:srgbClr val="172A45"/>
          </a:solidFill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2103120"/>
            <a:ext cx="85340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D4AF37"/>
                </a:solidFill>
                <a:latin typeface="Arial"/>
              </a:defRPr>
            </a:pPr>
            <a:r>
              <a:t>SECTION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651760"/>
            <a:ext cx="85340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rial"/>
              </a:defRPr>
            </a:pPr>
            <a:r>
              <a:t>Conformal UAV/EW Array and Impairments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931920"/>
            <a:ext cx="85340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B4C8DC"/>
                </a:solidFill>
                <a:latin typeface="Arial"/>
              </a:defRPr>
            </a:pPr>
            <a:r>
              <a:t>Curvature-induced phase distortion, mechanical strain, and mutual coupling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C757D"/>
                </a:solidFill>
              </a:defRPr>
            </a:pPr>
            <a:r>
              <a:t>14/21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Conformal Array Modeling Across Cylindrical Curvatures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55080"/>
            <a:ext cx="10728655" cy="18288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C757D"/>
                </a:solidFill>
                <a:latin typeface="Arial"/>
              </a:defRPr>
            </a:pPr>
            <a:r>
              <a:t>CEP: Super Wideband Planar and Conformal Vivaldi Antenna for UAV/EW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72A45"/>
                </a:solidFill>
                <a:latin typeface="Arial"/>
              </a:defRPr>
            </a:pPr>
            <a:r>
              <a:t>15/21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80160"/>
            <a:ext cx="548640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463040"/>
            <a:ext cx="50292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200"/>
              </a:spcAft>
            </a:pPr>
            <a:r>
              <a:rPr b="1" sz="1300">
                <a:solidFill>
                  <a:srgbClr val="0A192F"/>
                </a:solidFill>
                <a:latin typeface="Arial"/>
              </a:rPr>
              <a:t>•  Cylindrical Conformal Integration: </a:t>
            </a:r>
            <a:r>
              <a:rPr b="0" sz="1300">
                <a:solidFill>
                  <a:srgbClr val="212529"/>
                </a:solidFill>
                <a:latin typeface="Arial"/>
              </a:rPr>
              <a:t>Element conformed onto curved UAV fuselages and missile bodies of diameters D = 23 cm, 27 cm, and 30 cm using cylindrical mapping.</a:t>
            </a:r>
          </a:p>
          <a:p>
            <a:pPr>
              <a:spcBef>
                <a:spcPts val="400"/>
              </a:spcBef>
              <a:spcAft>
                <a:spcPts val="1200"/>
              </a:spcAft>
            </a:pPr>
            <a:r>
              <a:rPr b="1" sz="1300">
                <a:solidFill>
                  <a:srgbClr val="0A192F"/>
                </a:solidFill>
                <a:latin typeface="Arial"/>
              </a:rPr>
              <a:t>•  Impedance Bandwidth Retention: </a:t>
            </a:r>
            <a:r>
              <a:rPr b="0" sz="1300">
                <a:solidFill>
                  <a:srgbClr val="212529"/>
                </a:solidFill>
                <a:latin typeface="Arial"/>
              </a:rPr>
              <a:t>Maintains wideband S11 &lt; -10 dB across the entire 3–18 GHz spectrum under all cylindrical bending diameters.</a:t>
            </a:r>
          </a:p>
          <a:p>
            <a:pPr>
              <a:spcBef>
                <a:spcPts val="400"/>
              </a:spcBef>
              <a:spcAft>
                <a:spcPts val="1200"/>
              </a:spcAft>
            </a:pPr>
            <a:r>
              <a:rPr b="1" sz="1300">
                <a:solidFill>
                  <a:srgbClr val="0A192F"/>
                </a:solidFill>
                <a:latin typeface="Arial"/>
              </a:rPr>
              <a:t>•  Resonance Downward Shift (1.5% to 4.5%): </a:t>
            </a:r>
            <a:r>
              <a:rPr b="0" sz="1300">
                <a:solidFill>
                  <a:srgbClr val="212529"/>
                </a:solidFill>
                <a:latin typeface="Arial"/>
              </a:rPr>
              <a:t>Curvature slightly elongates peripheral surface current paths, causing minor downward resonance tuning without degrading bandwidth.</a:t>
            </a:r>
          </a:p>
          <a:p>
            <a:pPr>
              <a:spcBef>
                <a:spcPts val="400"/>
              </a:spcBef>
              <a:spcAft>
                <a:spcPts val="1200"/>
              </a:spcAft>
            </a:pPr>
            <a:r>
              <a:rPr b="1" sz="1300">
                <a:solidFill>
                  <a:srgbClr val="0A192F"/>
                </a:solidFill>
                <a:latin typeface="Arial"/>
              </a:rPr>
              <a:t>•  Aerodynamic Drag Elimination: </a:t>
            </a:r>
            <a:r>
              <a:rPr b="0" sz="1300">
                <a:solidFill>
                  <a:srgbClr val="212529"/>
                </a:solidFill>
                <a:latin typeface="Arial"/>
              </a:rPr>
              <a:t>Flush conformal mounting eliminates parasite drag and maintains aircraft stealth radar cross-section (RCS).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1280160"/>
            <a:ext cx="4967935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g5_Conformal_S11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645920"/>
            <a:ext cx="4572000" cy="2857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Real-Time Impairments: Phase Distortion and Strain Limits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55080"/>
            <a:ext cx="10728655" cy="18288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C757D"/>
                </a:solidFill>
                <a:latin typeface="Arial"/>
              </a:defRPr>
            </a:pPr>
            <a:r>
              <a:t>CEP: Super Wideband Planar and Conformal Vivaldi Antenna for UAV/EW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72A45"/>
                </a:solidFill>
                <a:latin typeface="Arial"/>
              </a:defRPr>
            </a:pPr>
            <a:r>
              <a:t>16/21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80160"/>
            <a:ext cx="10728655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463040"/>
            <a:ext cx="1027145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200"/>
              </a:spcAft>
            </a:pPr>
            <a:r>
              <a:rPr b="1" sz="1300">
                <a:solidFill>
                  <a:srgbClr val="0A192F"/>
                </a:solidFill>
                <a:latin typeface="Arial"/>
              </a:rPr>
              <a:t>•  Phase Front Curvature Distortion: </a:t>
            </a:r>
            <a:r>
              <a:rPr b="0" sz="1300">
                <a:solidFill>
                  <a:srgbClr val="212529"/>
                </a:solidFill>
                <a:latin typeface="Arial"/>
              </a:rPr>
              <a:t>Spatial path difference Δl(θ) = Rc(1 - cosθ) introduces phase distortion ΔΦ(θ) = k0*Rc(1 - cosθ), causing minor H-plane beam broadening (4° to 7°).</a:t>
            </a:r>
          </a:p>
          <a:p>
            <a:pPr>
              <a:spcBef>
                <a:spcPts val="400"/>
              </a:spcBef>
              <a:spcAft>
                <a:spcPts val="1200"/>
              </a:spcAft>
            </a:pPr>
            <a:r>
              <a:rPr b="1" sz="1300">
                <a:solidFill>
                  <a:srgbClr val="0A192F"/>
                </a:solidFill>
                <a:latin typeface="Arial"/>
              </a:rPr>
              <a:t>•  End-Fire Directivity Preservation: </a:t>
            </a:r>
            <a:r>
              <a:rPr b="0" sz="1300">
                <a:solidFill>
                  <a:srgbClr val="212529"/>
                </a:solidFill>
                <a:latin typeface="Arial"/>
              </a:rPr>
              <a:t>Peak gain remains high (&gt; 8.8 dBi at 18 GHz) despite severe cylindrical wrapping on D = 23 cm airframes.</a:t>
            </a:r>
          </a:p>
          <a:p>
            <a:pPr>
              <a:spcBef>
                <a:spcPts val="400"/>
              </a:spcBef>
              <a:spcAft>
                <a:spcPts val="1200"/>
              </a:spcAft>
            </a:pPr>
            <a:r>
              <a:rPr b="1" sz="1300">
                <a:solidFill>
                  <a:srgbClr val="0A192F"/>
                </a:solidFill>
                <a:latin typeface="Arial"/>
              </a:rPr>
              <a:t>•  Mechanical Bending Strain Analysis: </a:t>
            </a:r>
            <a:r>
              <a:rPr b="0" sz="1300">
                <a:solidFill>
                  <a:srgbClr val="212529"/>
                </a:solidFill>
                <a:latin typeface="Arial"/>
              </a:rPr>
              <a:t>Maximum surface bending strain on 20 mil RT6035HTC laminate at D = 23 cm is ε_bend = h / (2*Rc) = 0.508 / (2*115) = 0.221%.</a:t>
            </a:r>
          </a:p>
          <a:p>
            <a:pPr>
              <a:spcBef>
                <a:spcPts val="400"/>
              </a:spcBef>
              <a:spcAft>
                <a:spcPts val="1200"/>
              </a:spcAft>
            </a:pPr>
            <a:r>
              <a:rPr b="1" sz="1300">
                <a:solidFill>
                  <a:srgbClr val="0A192F"/>
                </a:solidFill>
                <a:latin typeface="Arial"/>
              </a:rPr>
              <a:t>•  Laminate Elastic Safety Margin: </a:t>
            </a:r>
            <a:r>
              <a:rPr b="0" sz="1300">
                <a:solidFill>
                  <a:srgbClr val="212529"/>
                </a:solidFill>
                <a:latin typeface="Arial"/>
              </a:rPr>
              <a:t>Strain of 0.22% is far below the 1.5% plastic yield limit of copper/PTFE, ensuring zero delamination or fatigue during flight vibration.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4x1 Conformal Array Mutual Coupling (S21 Isolation)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55080"/>
            <a:ext cx="10728655" cy="18288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C757D"/>
                </a:solidFill>
                <a:latin typeface="Arial"/>
              </a:defRPr>
            </a:pPr>
            <a:r>
              <a:t>CEP: Super Wideband Planar and Conformal Vivaldi Antenna for UAV/EW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72A45"/>
                </a:solidFill>
                <a:latin typeface="Arial"/>
              </a:defRPr>
            </a:pPr>
            <a:r>
              <a:t>17/21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80160"/>
            <a:ext cx="548640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463040"/>
            <a:ext cx="50292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200"/>
              </a:spcAft>
            </a:pPr>
            <a:r>
              <a:rPr b="1" sz="1300">
                <a:solidFill>
                  <a:srgbClr val="0A192F"/>
                </a:solidFill>
                <a:latin typeface="Arial"/>
              </a:rPr>
              <a:t>•  4x1 Array Spacing (2 mm Gap): </a:t>
            </a:r>
            <a:r>
              <a:rPr b="0" sz="1300">
                <a:solidFill>
                  <a:srgbClr val="212529"/>
                </a:solidFill>
                <a:latin typeface="Arial"/>
              </a:rPr>
              <a:t>Evaluated a 4-element array with 2.0 mm inter-element gap integrated conformally around the cylindrical airframe.</a:t>
            </a:r>
          </a:p>
          <a:p>
            <a:pPr>
              <a:spcBef>
                <a:spcPts val="400"/>
              </a:spcBef>
              <a:spcAft>
                <a:spcPts val="1200"/>
              </a:spcAft>
            </a:pPr>
            <a:r>
              <a:rPr b="1" sz="1300">
                <a:solidFill>
                  <a:srgbClr val="0A192F"/>
                </a:solidFill>
                <a:latin typeface="Arial"/>
              </a:rPr>
              <a:t>•  Curvature-Induced Mutual Coupling Suppression: </a:t>
            </a:r>
            <a:r>
              <a:rPr b="0" sz="1300">
                <a:solidFill>
                  <a:srgbClr val="212529"/>
                </a:solidFill>
                <a:latin typeface="Arial"/>
              </a:rPr>
              <a:t>Adjacent element normal vectors diverge by Δα ≈ 12.5°, naturally suppressing spatial cross-talk by 2.5 to 4.0 dB.</a:t>
            </a:r>
          </a:p>
          <a:p>
            <a:pPr>
              <a:spcBef>
                <a:spcPts val="400"/>
              </a:spcBef>
              <a:spcAft>
                <a:spcPts val="1200"/>
              </a:spcAft>
            </a:pPr>
            <a:r>
              <a:rPr b="1" sz="1300">
                <a:solidFill>
                  <a:srgbClr val="0A192F"/>
                </a:solidFill>
                <a:latin typeface="Arial"/>
              </a:rPr>
              <a:t>•  Excellent Inter-Element Isolation: </a:t>
            </a:r>
            <a:r>
              <a:rPr b="0" sz="1300">
                <a:solidFill>
                  <a:srgbClr val="212529"/>
                </a:solidFill>
                <a:latin typeface="Arial"/>
              </a:rPr>
              <a:t>Mutual coupling S21 remains below -18 dB across the full 3–18 GHz band, exceeding standard -15 dB isolation benchmarks.</a:t>
            </a:r>
          </a:p>
          <a:p>
            <a:pPr>
              <a:spcBef>
                <a:spcPts val="400"/>
              </a:spcBef>
              <a:spcAft>
                <a:spcPts val="1200"/>
              </a:spcAft>
            </a:pPr>
            <a:r>
              <a:rPr b="1" sz="1300">
                <a:solidFill>
                  <a:srgbClr val="0A192F"/>
                </a:solidFill>
                <a:latin typeface="Arial"/>
              </a:rPr>
              <a:t>•  High Direction-Finding Accuracy: </a:t>
            </a:r>
            <a:r>
              <a:rPr b="0" sz="1300">
                <a:solidFill>
                  <a:srgbClr val="212529"/>
                </a:solidFill>
                <a:latin typeface="Arial"/>
              </a:rPr>
              <a:t>Low mutual coupling prevents scan blindness and ensures high Angle-of-Arrival (AoA) estimation precision for EW receivers.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1280160"/>
            <a:ext cx="4967935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g6_Mutual_Coupling_S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828800"/>
            <a:ext cx="4572000" cy="257175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Comprehensive Multi-Model Performance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55080"/>
            <a:ext cx="10728655" cy="18288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C757D"/>
                </a:solidFill>
                <a:latin typeface="Arial"/>
              </a:defRPr>
            </a:pPr>
            <a:r>
              <a:t>CEP: Super Wideband Planar and Conformal Vivaldi Antenna for UAV/EW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72A45"/>
                </a:solidFill>
                <a:latin typeface="Arial"/>
              </a:defRPr>
            </a:pPr>
            <a:r>
              <a:t>18/21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371600"/>
          <a:ext cx="1072865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011680"/>
                <a:gridCol w="2286000"/>
                <a:gridCol w="2011680"/>
                <a:gridCol w="2773375"/>
              </a:tblGrid>
              <a:tr h="76200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D4AF37"/>
                          </a:solidFill>
                        </a:defRPr>
                      </a:pPr>
                      <a:r>
                        <a:t>Design Iteration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D4AF37"/>
                          </a:solidFill>
                        </a:defRPr>
                      </a:pPr>
                      <a:r>
                        <a:t>Substrate and Size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D4AF37"/>
                          </a:solidFill>
                        </a:defRPr>
                      </a:pPr>
                      <a:r>
                        <a:t>Feeding Mechanism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D4AF37"/>
                          </a:solidFill>
                        </a:defRPr>
                      </a:pPr>
                      <a:r>
                        <a:t>Impedance Bandwidth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D4AF37"/>
                          </a:solidFill>
                        </a:defRPr>
                      </a:pPr>
                      <a:r>
                        <a:t>Key Diagnostic / Achievement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Model 1 (Duroid 5880)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Rogers RT5880 (εr=2.2)</a:t>
                      </a:r>
                      <a:br/>
                      <a:r>
                        <a:t>60 x 120 x 0.8 mm³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Balanced Microstrip</a:t>
                      </a:r>
                      <a:br/>
                      <a:r>
                        <a:t>(Double-sided)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4.5 – 12.0 GHz</a:t>
                      </a:r>
                      <a:br/>
                      <a:r>
                        <a:t>(High S11 at 18 GHz)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Large footprint; via direct shorting failure (S11 ≈ -0.5 dB).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Model 2 (Unmatched CPW)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Rogers RT6035HTC (εr=3.6)</a:t>
                      </a:r>
                      <a:br/>
                      <a:r>
                        <a:t>50 x 98.08 x 0.508 mm³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Single-Layer CPW</a:t>
                      </a:r>
                      <a:br/>
                      <a:r>
                        <a:t>(Mw = 4.0 mm, Z0=33.7Ω)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Discontinuous</a:t>
                      </a:r>
                      <a:br/>
                      <a:r>
                        <a:t>(Ripples to -3 dB)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Line mismatch (|Γ|=0.195) caused standing-wave reflection ripples.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Model 3 (Cavity Defect)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Rogers RT6035HTC (εr=3.6)</a:t>
                      </a:r>
                      <a:br/>
                      <a:r>
                        <a:t>50 x 98.08 x 0.508 mm³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CPW with tuning slots</a:t>
                      </a:r>
                      <a:br/>
                      <a:r>
                        <a:t>(Over-etched P2 hole)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Resonant Dips</a:t>
                      </a:r>
                      <a:br/>
                      <a:r>
                        <a:t>(Periodic S11 ripple)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P2 cavity hole created 18 mm open stub, causing 1.25 GHz phase ripples.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Model 4 (Final 1:1 Planar)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Rogers RT6035HTC (εr=3.6)</a:t>
                      </a:r>
                      <a:br/>
                      <a:r>
                        <a:t>50 x 98.08 x 0.508 mm³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Matched 50Ω CPW</a:t>
                      </a:r>
                      <a:br/>
                      <a:r>
                        <a:t>(Mw = 1.8 mm, g = 0.5 mm)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3.0 – 18.0 GHz (6:1 SWB)</a:t>
                      </a:r>
                      <a:br/>
                      <a:r>
                        <a:t>S11 &lt; -10 dB across band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Full wideband match (Nulls: -42.1 dB @ 5.5 GHz, -30.5 dB @ 13.7 GHz).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Conformal 4x1 Array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Curved RT6035HTC</a:t>
                      </a:r>
                      <a:br/>
                      <a:r>
                        <a:t>D = 23, 27, 30 cm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Conformal 50Ω CPW</a:t>
                      </a:r>
                      <a:br/>
                      <a:r>
                        <a:t>(4x1 Array, 2 mm gap)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2.85 – 18.0 GHz</a:t>
                      </a:r>
                      <a:br/>
                      <a:r>
                        <a:t>S11 &lt; -10 dB, S21 &lt; -18 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Curvature suppresses mutual coupling; low bending strain (ε = 0.22%).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1828800"/>
            <a:ext cx="9448495" cy="3200400"/>
          </a:xfrm>
          <a:prstGeom prst="rect">
            <a:avLst/>
          </a:prstGeom>
          <a:solidFill>
            <a:srgbClr val="172A45"/>
          </a:solidFill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2103120"/>
            <a:ext cx="85340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D4AF37"/>
                </a:solidFill>
                <a:latin typeface="Arial"/>
              </a:defRPr>
            </a:pPr>
            <a:r>
              <a:t>SECTION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651760"/>
            <a:ext cx="85340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rial"/>
              </a:defRPr>
            </a:pPr>
            <a:r>
              <a:t>Conclusion and Future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931920"/>
            <a:ext cx="85340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B4C8DC"/>
                </a:solidFill>
                <a:latin typeface="Arial"/>
              </a:defRPr>
            </a:pPr>
            <a:r>
              <a:t>Summary of achievements, flight readiness, and experimental 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C757D"/>
                </a:solidFill>
              </a:defRPr>
            </a:pPr>
            <a:r>
              <a:t>19/21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Conclusions and Technical Impact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55080"/>
            <a:ext cx="10728655" cy="18288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C757D"/>
                </a:solidFill>
                <a:latin typeface="Arial"/>
              </a:defRPr>
            </a:pPr>
            <a:r>
              <a:t>CEP: Super Wideband Planar and Conformal Vivaldi Antenna for UAV/EW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72A45"/>
                </a:solidFill>
                <a:latin typeface="Arial"/>
              </a:defRPr>
            </a:pPr>
            <a:r>
              <a:t>20/21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80160"/>
            <a:ext cx="10728655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463040"/>
            <a:ext cx="1027145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200"/>
              </a:spcAft>
            </a:pPr>
            <a:r>
              <a:rPr b="1" sz="1300">
                <a:solidFill>
                  <a:srgbClr val="0A192F"/>
                </a:solidFill>
                <a:latin typeface="Arial"/>
              </a:rPr>
              <a:t>•  Super Wideband (3–18 GHz) Success: </a:t>
            </a:r>
            <a:r>
              <a:rPr b="0" sz="1300">
                <a:solidFill>
                  <a:srgbClr val="212529"/>
                </a:solidFill>
                <a:latin typeface="Arial"/>
              </a:rPr>
              <a:t>Successfully designed and validated a single-layer CPW Vivaldi antenna achieving continuous S11 &lt; -10 dB across a 6:1 bandwidth ratio.</a:t>
            </a:r>
          </a:p>
          <a:p>
            <a:pPr>
              <a:spcBef>
                <a:spcPts val="400"/>
              </a:spcBef>
              <a:spcAft>
                <a:spcPts val="1200"/>
              </a:spcAft>
            </a:pPr>
            <a:r>
              <a:rPr b="1" sz="1300">
                <a:solidFill>
                  <a:srgbClr val="0A192F"/>
                </a:solidFill>
                <a:latin typeface="Arial"/>
              </a:rPr>
              <a:t>•  32% Miniaturization on Rogers RT6035HTC: </a:t>
            </a:r>
            <a:r>
              <a:rPr b="0" sz="1300">
                <a:solidFill>
                  <a:srgbClr val="212529"/>
                </a:solidFill>
                <a:latin typeface="Arial"/>
              </a:rPr>
              <a:t>Permittivity compression on thin 20 mil laminate enabled an ultra-compact 50.00 x 98.08 x 0.508 mm³ envelope ideal for dense UAV payloads.</a:t>
            </a:r>
          </a:p>
          <a:p>
            <a:pPr>
              <a:spcBef>
                <a:spcPts val="400"/>
              </a:spcBef>
              <a:spcAft>
                <a:spcPts val="1200"/>
              </a:spcAft>
            </a:pPr>
            <a:r>
              <a:rPr b="1" sz="1300">
                <a:solidFill>
                  <a:srgbClr val="0A192F"/>
                </a:solidFill>
                <a:latin typeface="Arial"/>
              </a:rPr>
              <a:t>•  Systematic Failure-Mode Diagnostics: </a:t>
            </a:r>
            <a:r>
              <a:rPr b="0" sz="1300">
                <a:solidFill>
                  <a:srgbClr val="212529"/>
                </a:solidFill>
                <a:latin typeface="Arial"/>
              </a:rPr>
              <a:t>Investigated and resolved microstrip via shorting, CPW line impedance mismatches, and back-cavity standing wave phase cancellation defects.</a:t>
            </a:r>
          </a:p>
          <a:p>
            <a:pPr>
              <a:spcBef>
                <a:spcPts val="400"/>
              </a:spcBef>
              <a:spcAft>
                <a:spcPts val="1200"/>
              </a:spcAft>
            </a:pPr>
            <a:r>
              <a:rPr b="1" sz="1300">
                <a:solidFill>
                  <a:srgbClr val="0A192F"/>
                </a:solidFill>
                <a:latin typeface="Arial"/>
              </a:rPr>
              <a:t>•  Robust Aeronautical Conformal Viability: </a:t>
            </a:r>
            <a:r>
              <a:rPr b="0" sz="1300">
                <a:solidFill>
                  <a:srgbClr val="212529"/>
                </a:solidFill>
                <a:latin typeface="Arial"/>
              </a:rPr>
              <a:t>Validated performance across cylindrical UAV airframes (D = 23–30 cm), proving low mechanical strain (ε ≤ 0.22%) and enhanced isolation (S21 &lt; -18 dB).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1645920"/>
            <a:ext cx="9448495" cy="3474720"/>
          </a:xfrm>
          <a:prstGeom prst="rect">
            <a:avLst/>
          </a:prstGeom>
          <a:solidFill>
            <a:srgbClr val="172A45"/>
          </a:solidFill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2011680"/>
            <a:ext cx="85340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D4AF37"/>
                </a:solidFill>
              </a:defRPr>
            </a:pPr>
            <a:r>
              <a:t>Thank You!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108960"/>
            <a:ext cx="8534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Questions and Discussion</a:t>
            </a:r>
          </a:p>
          <a:p>
            <a:pPr algn="ctr">
              <a:spcBef>
                <a:spcPts val="800"/>
              </a:spcBef>
              <a:defRPr sz="1400">
                <a:solidFill>
                  <a:srgbClr val="B4CDEB"/>
                </a:solidFill>
              </a:defRPr>
            </a:pPr>
            <a:r>
              <a:t>NUST College of Aeronautical Engineering (CAE), Risalpur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