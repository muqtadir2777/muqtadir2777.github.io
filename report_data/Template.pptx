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50" r:id="rId3"/>
    <p:sldMasterId id="2147483700" r:id="rId4"/>
  </p:sldMasterIdLst>
  <p:notesMasterIdLst>
    <p:notesMasterId r:id="rId26"/>
  </p:notesMasterIdLst>
  <p:handoutMasterIdLst>
    <p:handoutMasterId r:id="rId27"/>
  </p:handoutMasterIdLst>
  <p:sldIdLst>
    <p:sldId id="688" r:id="rId5"/>
    <p:sldId id="423" r:id="rId6"/>
    <p:sldId id="804" r:id="rId7"/>
    <p:sldId id="512" r:id="rId8"/>
    <p:sldId id="777" r:id="rId9"/>
    <p:sldId id="759" r:id="rId10"/>
    <p:sldId id="766" r:id="rId11"/>
    <p:sldId id="746" r:id="rId12"/>
    <p:sldId id="781" r:id="rId13"/>
    <p:sldId id="808" r:id="rId14"/>
    <p:sldId id="809" r:id="rId15"/>
    <p:sldId id="810" r:id="rId16"/>
    <p:sldId id="811" r:id="rId17"/>
    <p:sldId id="782" r:id="rId18"/>
    <p:sldId id="805" r:id="rId19"/>
    <p:sldId id="812" r:id="rId20"/>
    <p:sldId id="813" r:id="rId21"/>
    <p:sldId id="756" r:id="rId22"/>
    <p:sldId id="731" r:id="rId23"/>
    <p:sldId id="788" r:id="rId24"/>
    <p:sldId id="763" r:id="rId2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87194322-BF36-401D-953E-2F6A9ABC4B43}">
          <p14:sldIdLst>
            <p14:sldId id="688"/>
            <p14:sldId id="423"/>
            <p14:sldId id="804"/>
            <p14:sldId id="512"/>
            <p14:sldId id="777"/>
            <p14:sldId id="759"/>
            <p14:sldId id="766"/>
            <p14:sldId id="746"/>
            <p14:sldId id="781"/>
            <p14:sldId id="808"/>
            <p14:sldId id="809"/>
            <p14:sldId id="810"/>
            <p14:sldId id="811"/>
            <p14:sldId id="782"/>
            <p14:sldId id="805"/>
            <p14:sldId id="812"/>
            <p14:sldId id="813"/>
            <p14:sldId id="756"/>
            <p14:sldId id="731"/>
            <p14:sldId id="788"/>
            <p14:sldId id="7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AAC5"/>
    <a:srgbClr val="17375E"/>
    <a:srgbClr val="5C84CC"/>
    <a:srgbClr val="00B050"/>
    <a:srgbClr val="FFC000"/>
    <a:srgbClr val="AE7B05"/>
    <a:srgbClr val="E6E0EC"/>
    <a:srgbClr val="4BACC6"/>
    <a:srgbClr val="F79646"/>
    <a:srgbClr val="683C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7B657A-F79F-4261-8088-C1828CA1C4A8}" v="29" dt="2024-03-21T01:58:09.021"/>
    <p1510:client id="{C4F49B1B-666B-428E-8B95-C83A65D2B9AD}" v="2815" dt="2024-03-20T21:06:48.2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65" autoAdjust="0"/>
    <p:restoredTop sz="54215" autoAdjust="0"/>
  </p:normalViewPr>
  <p:slideViewPr>
    <p:cSldViewPr snapToGrid="0">
      <p:cViewPr varScale="1">
        <p:scale>
          <a:sx n="117" d="100"/>
          <a:sy n="117" d="100"/>
        </p:scale>
        <p:origin x="212" y="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5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562"/>
    </p:cViewPr>
  </p:sorterViewPr>
  <p:notesViewPr>
    <p:cSldViewPr snapToGrid="0">
      <p:cViewPr>
        <p:scale>
          <a:sx n="1" d="2"/>
          <a:sy n="1" d="2"/>
        </p:scale>
        <p:origin x="3988" y="10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FD6CB-EBFB-41D6-99FE-037A46211617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1DDA4B-8B5A-4946-89A2-A0ADC765D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3884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28AB33E-8ECE-47FD-9996-1CE0B0D340D4}" type="datetimeFigureOut">
              <a:rPr lang="en-US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3F4497-A192-4A36-AF7A-D68AD47276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8302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919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BEB52-B167-CE25-F328-7C42E78F9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F0967-8E53-A6FE-3ECE-816F1F743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8C6C03-996E-1A8E-79A8-CE7954689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36F4C-27FD-4D5A-4AD3-C2C391864A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54A09-5422-50F1-17B6-F2C9EA3B2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65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84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30380-162F-5EFF-A650-30AAF0AA2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7D160-4B80-8046-1484-7677500F4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176BE-1418-3C3F-6762-C1957CDC7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A8DC0-50B0-0CB5-F548-6136A59F18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66894-D3A5-70B6-03EB-859311AAF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666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97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84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E902C-154B-5973-BCF2-E88176BEA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12CE6-F21E-4E13-D16C-5C33810FB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64E19B-2F97-E031-8F69-3DA9EC395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2C0DD-1A4E-4049-05AF-41F6528E9C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10F863-42BC-E201-C1F6-3C73ED171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53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60735-1FCC-5528-A8A2-1A7F224F9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808264-E2EC-0E90-8393-1152FA59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CE4FD-4E15-247E-D3E6-90FFBFA09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B6C88-B313-99F9-25E3-2458EF1A8A3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A1C50-2002-5E95-0F73-C4192DCA4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46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15B45-3A60-B801-868F-6D1252BD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33155-6983-2EEE-04E8-5BCB4D686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0D37BC-0C25-1018-B3EA-77364C8CD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126B7-6ADC-3E51-D171-71DB562DA2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80CFE-3DE0-9404-C81B-E2B4D827D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98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4279E-BA30-16E8-B7FA-50FF5169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AEF31-EF96-7853-90F0-B99D2D82A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374CC-B62F-69C6-46F7-86378B39D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86EE88-07CC-0AB4-3DDE-CB073C4344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373C7-882B-FA80-7437-59BBD6D30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47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D94B0-1958-8B1F-9664-438F4573D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061B4-039A-D9F7-9C15-7D744993D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51590-ECA2-BECB-0A45-860077390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B01AE9-0846-F0AD-6D1B-525B0C7EE6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59F06-AF61-4D55-848D-DF82160CB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767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4442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69F04-3282-85AC-7715-8E7697AA1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92C44-F4CF-7B17-FF29-E202D0740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7AA631-1741-E891-47E9-38840E6FE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A531A-9A41-3839-B210-125C62E98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348C0-6EC8-0A52-3917-1D1F10006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59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3CD08-120B-162A-1223-E31D8C98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78AD66-9F52-BAEA-0D78-13F353BFC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967ED-80DB-2DFB-146A-C65A908B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6D2AF8-01FA-950F-9D14-34C16F8AB4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20D0F-86BF-66BB-9F49-F63EC516E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509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902C9-A281-3A4C-1BFF-034EB009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F8F71-D5CA-0971-F277-D19CC7371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C61B3-51CC-EE3E-5C43-7C285A39E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716EB-0139-8D78-40B8-12BBBFB0CC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A996A-5221-A80E-8BB4-F408641A4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748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03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F095A6-EDF1-0DE7-3D81-FC44221760C8}"/>
              </a:ext>
            </a:extLst>
          </p:cNvPr>
          <p:cNvSpPr/>
          <p:nvPr userDrawn="1"/>
        </p:nvSpPr>
        <p:spPr>
          <a:xfrm>
            <a:off x="0" y="6392865"/>
            <a:ext cx="12192000" cy="46513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1600201"/>
            <a:ext cx="10464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9199291" y="6444388"/>
            <a:ext cx="2844800" cy="365125"/>
          </a:xfrm>
        </p:spPr>
        <p:txBody>
          <a:bodyPr/>
          <a:lstStyle>
            <a:lvl1pPr algn="r">
              <a:defRPr sz="1400" b="0"/>
            </a:lvl1pPr>
          </a:lstStyle>
          <a:p>
            <a:pPr>
              <a:defRPr/>
            </a:pPr>
            <a:fld id="{3C7A04D2-60CF-4814-B4CA-934AD53FD058}" type="datetime5">
              <a:rPr lang="en-US" smtClean="0"/>
              <a:t>22-Aug-26</a:t>
            </a:fld>
            <a:endParaRPr lang="en-US" b="0" dirty="0"/>
          </a:p>
        </p:txBody>
      </p: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1320800" y="1371600"/>
            <a:ext cx="10871200" cy="0"/>
          </a:xfrm>
          <a:prstGeom prst="line">
            <a:avLst/>
          </a:prstGeom>
          <a:ln w="57150">
            <a:solidFill>
              <a:srgbClr val="FA8C29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24891" y="465135"/>
            <a:ext cx="121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tx1">
                    <a:tint val="75000"/>
                  </a:scheme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‹#›</a:t>
            </a:fld>
            <a:r>
              <a:rPr lang="en-US" dirty="0"/>
              <a:t>/26</a:t>
            </a:r>
            <a:endParaRPr lang="en-US" dirty="0">
              <a:latin typeface="+mj-lt"/>
            </a:endParaRPr>
          </a:p>
        </p:txBody>
      </p:sp>
      <p:pic>
        <p:nvPicPr>
          <p:cNvPr id="4" name="Picture 3" descr="220px-CAE.png">
            <a:extLst>
              <a:ext uri="{FF2B5EF4-FFF2-40B4-BE49-F238E27FC236}">
                <a16:creationId xmlns:a16="http://schemas.microsoft.com/office/drawing/2014/main" id="{AFB4D32E-2420-DC34-1D75-AA021D3702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7909" y="38295"/>
            <a:ext cx="1052061" cy="13870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EC2C1B-3742-927C-D5B7-A2B5B456765C}"/>
              </a:ext>
            </a:extLst>
          </p:cNvPr>
          <p:cNvSpPr txBox="1"/>
          <p:nvPr userDrawn="1"/>
        </p:nvSpPr>
        <p:spPr>
          <a:xfrm>
            <a:off x="147909" y="6461852"/>
            <a:ext cx="2671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/>
              <a:t>NS Zahid Ashraf</a:t>
            </a:r>
            <a:endParaRPr lang="en-PK" sz="1400" b="0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00BBDDC-90CC-991C-1DBD-847EF7E82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4890" y="6434319"/>
            <a:ext cx="8182220" cy="375194"/>
          </a:xfr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CEP: Design of Concurrent Dual Band Bandpass Filter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97989-EF31-2F75-85C3-49020F718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154" y="2857500"/>
            <a:ext cx="7029692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pic>
        <p:nvPicPr>
          <p:cNvPr id="6" name="Picture 5" descr="220px-CAE.png">
            <a:extLst>
              <a:ext uri="{FF2B5EF4-FFF2-40B4-BE49-F238E27FC236}">
                <a16:creationId xmlns:a16="http://schemas.microsoft.com/office/drawing/2014/main" id="{F14E2A48-4A29-7006-1D24-ECF0F1E430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4000"/>
          </a:blip>
          <a:stretch>
            <a:fillRect/>
          </a:stretch>
        </p:blipFill>
        <p:spPr>
          <a:xfrm>
            <a:off x="-763928" y="2120376"/>
            <a:ext cx="3881376" cy="5117380"/>
          </a:xfrm>
          <a:prstGeom prst="rect">
            <a:avLst/>
          </a:prstGeom>
          <a:effectLst>
            <a:outerShdw sx="1000" sy="1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397633740"/>
      </p:ext>
    </p:extLst>
  </p:cSld>
  <p:clrMapOvr>
    <a:masterClrMapping/>
  </p:clrMapOvr>
  <p:transition advClick="0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90C87-FECE-9AE2-B4EF-EE32BEB89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916310-3880-D54C-8A99-A6319B28F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B400C-AF10-B06F-BE6C-C2AC699E8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89846-2EFF-45C9-83BC-B2C3530FCCF4}" type="datetime5">
              <a:rPr lang="en-US" smtClean="0"/>
              <a:t>22-Aug-26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C14FE-FF8D-9148-0873-7130A691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A38D5-C0A2-3573-4209-80D2027D0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60150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471B-1176-1169-28C2-5A2FEC2E4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86990-E7FF-7A3F-3EAF-4AB1AE077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9EF92-EE40-0876-AE19-E4DA63982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FC91-3BAA-4E68-BC32-4398403AE6BE}" type="datetime5">
              <a:rPr lang="en-US" smtClean="0"/>
              <a:t>22-Aug-26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C1210-3584-FA97-5E59-92DF38082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CB4D0-92B6-2E7F-6317-C4B7C9618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8229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2A5A6-8C14-BEC8-C4F9-C0B4577DB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D3597-C805-B3FB-E9DA-5ADD19E3D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9C19B-1F84-B3A8-BE2C-B9A41622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3256A-66FD-4E21-A33F-03CCB3964FF7}" type="datetime5">
              <a:rPr lang="en-US" smtClean="0"/>
              <a:t>22-Aug-26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0B166-9D9A-7909-F6F0-A44920487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9FF28-530D-C87D-048B-DDC660287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9992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02A78-DC2B-4E45-75C7-6C7BA361E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D1A05-4F71-5F51-F69B-1B43C0D7F1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ECFA2-676F-6435-249D-95BA210A3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9B354-CDC5-D4B1-2162-452BB744F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F8528-B258-460F-8547-7FC2A34E342F}" type="datetime5">
              <a:rPr lang="en-US" smtClean="0"/>
              <a:t>22-Aug-26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17CA0-F152-9792-3358-146B30181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F5548-2143-0DCA-1E76-99D4D8E1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82699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C973F-5D29-D643-62B9-B9B64E2C2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DD76D-F02B-3CF1-0DC9-101C17941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8803B-4A02-BF1D-7412-D178A6AB4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12ACAC-6F89-0683-9E1B-E088AE244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CF958-B54A-B20E-DAFB-8CC969094D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C021AC-FAFE-18A5-69DF-462DAB6CB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22EEA-C719-4935-84AD-C968AE22C73F}" type="datetime5">
              <a:rPr lang="en-US" smtClean="0"/>
              <a:t>22-Aug-26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0E59A1-4041-5B3B-6A95-F319BE281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A14F64-63F2-CA0F-6ADD-63E9EDE1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70069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4B5D-A0DE-DEE1-FB07-E6CB1B491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51A1E4-7BAD-8857-6B18-C36E5519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BC20B-DB8D-4D3B-B21C-61FD478AE6B5}" type="datetime5">
              <a:rPr lang="en-US" smtClean="0"/>
              <a:t>22-Aug-26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87D42D-C446-8C4F-760A-C9D696F6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5B326-9749-6F7C-ABC8-F0CD47792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79386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6BE930-40DD-714E-1741-E0219CA7E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5DBE-0259-4CFE-B736-F0DC49BB924F}" type="datetime5">
              <a:rPr lang="en-US" smtClean="0"/>
              <a:t>22-Aug-26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31BD79-8D58-FE43-7001-83ED9695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FF154-69A3-7627-AFB3-5A31F106F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6982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A6D80-A49F-EA1C-A87D-23BC33C3F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C3A0B-0E07-9068-469B-1793FD5A3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69728-D06E-FC34-BA50-9045F60E8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F407F-6804-51C3-C1BF-78ACE5F7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3A0C-0470-46FC-8793-E93267C4B1CC}" type="datetime5">
              <a:rPr lang="en-US" smtClean="0"/>
              <a:t>22-Aug-26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8FB-A719-C871-2688-F13D2A874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FE64C-C1BF-6138-79AF-CE9EF1BA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078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4DB5D-7962-1D62-F4F8-E88300827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A6D4E2-1645-3A1C-1B61-A280324B6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3DB92-8C71-9684-EA72-F786EB70B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035C7-54B4-7007-47F6-291B37C05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E1CAD-835A-4B3B-B63E-EAFEFC03D019}" type="datetime5">
              <a:rPr lang="en-US" smtClean="0"/>
              <a:t>22-Aug-26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1B696-B868-3840-7932-FCFAE9279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2D83C-AA80-0663-36F4-C81601F2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23815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C90BE-0CB7-0DF7-BC45-CCF37AD4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27C1C-E9AE-1501-63E1-5A79A257B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F0E97-812B-AED9-C3FF-039FEC5E6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64575-6FDA-48AD-8250-EA8FA52E42ED}" type="datetime5">
              <a:rPr lang="en-US" smtClean="0"/>
              <a:t>22-Aug-26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6A54D-9AD1-EDEE-9B78-D1644301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450D0-7BDD-1B2F-26CF-A4755F391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05169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49A4F0-51E3-C6E6-D4E5-3749557EB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8D7B6-F0E2-A8EC-E24B-FFD1CF7EA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675B0-AAF0-9404-0C9A-A645B03D4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D8238-3EC9-4607-AE9E-9AD21115C7CA}" type="datetime5">
              <a:rPr lang="en-US" smtClean="0"/>
              <a:t>22-Aug-26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A00C8-AD98-748D-2BF3-97011A3F1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ADB40-423D-1ECC-B333-F743883C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7077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30480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3D7E291E-FFA4-4F3C-82A5-9DC4CDF6BA43}" type="datetime5">
              <a:rPr lang="en-US" smtClean="0"/>
              <a:t>22-Aug-26</a:t>
            </a:fld>
            <a:endParaRPr lang="en-US" dirty="0">
              <a:latin typeface="+mj-lt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9775" y="6356351"/>
            <a:ext cx="5632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dirty="0">
              <a:latin typeface="+mj-lt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71200" y="6400801"/>
            <a:ext cx="121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10377D7-8C3A-478A-B47F-247E829E3D11}" type="slidenum">
              <a:rPr lang="en-US" smtClean="0"/>
              <a:pPr>
                <a:defRPr/>
              </a:pPr>
              <a:t>‹#›</a:t>
            </a:fld>
            <a:r>
              <a:rPr lang="en-US" dirty="0"/>
              <a:t>/27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12" r:id="rId2"/>
  </p:sldLayoutIdLst>
  <p:transition advClick="0">
    <p:fade/>
  </p:transition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C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Ø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«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EA872F-4F82-75C4-5A57-F21602CC1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42BB0-A931-C27E-BD5C-B95410207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B0B68-7525-EE0B-0A3B-2C20922229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4D501-A831-4F70-A730-A517A2680FA7}" type="datetime5">
              <a:rPr lang="en-US" smtClean="0"/>
              <a:t>22-Aug-26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54568-A4BF-C3C0-05B9-F689FC19E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35762-4B78-2922-364A-E2C279E6C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84545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74051-79A4-F230-D681-261A276885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9689A-7A4E-26EE-9A1E-4C25DF1724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BC2BE6-0C7F-6DC9-6966-17DB778A58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5122" name="Picture 2" descr="Free Bismillah Images: Download High-Quality Islamic Profile Pics ...">
            <a:extLst>
              <a:ext uri="{FF2B5EF4-FFF2-40B4-BE49-F238E27FC236}">
                <a16:creationId xmlns:a16="http://schemas.microsoft.com/office/drawing/2014/main" id="{8FB7991F-5DAC-633E-8A76-8C086DBE8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973" y="1882486"/>
            <a:ext cx="6186054" cy="309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AEC44-E281-8768-4B81-AEE3B120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945768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552700" y="76200"/>
            <a:ext cx="7086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400" b="1" dirty="0">
                <a:solidFill>
                  <a:srgbClr val="FFC000"/>
                </a:solidFill>
                <a:latin typeface="Arial"/>
                <a:cs typeface="Arial"/>
              </a:rPr>
              <a:t>AV – 337  </a:t>
            </a:r>
            <a:endParaRPr lang="en-US" sz="2400" b="1" dirty="0">
              <a:solidFill>
                <a:srgbClr val="FFC000"/>
              </a:solidFill>
            </a:endParaRPr>
          </a:p>
          <a:p>
            <a:pPr lvl="0" algn="ctr" eaLnBrk="0" hangingPunct="0"/>
            <a:r>
              <a:rPr lang="en-US" sz="24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COMPLEX ENGG PROBLEM PRESENTATION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2552700" y="1143000"/>
            <a:ext cx="7086600" cy="1588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443114" y="1295401"/>
            <a:ext cx="7305773" cy="4616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400" b="1" dirty="0">
                <a:solidFill>
                  <a:srgbClr val="FFC000"/>
                </a:solidFill>
                <a:latin typeface="Arial"/>
                <a:cs typeface="Arial"/>
              </a:rPr>
              <a:t>Design of Concurrent Dual Band Bandpass Filter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FA2524-98CC-4D11-BEED-D13524253046}"/>
              </a:ext>
            </a:extLst>
          </p:cNvPr>
          <p:cNvSpPr txBox="1"/>
          <p:nvPr/>
        </p:nvSpPr>
        <p:spPr>
          <a:xfrm>
            <a:off x="8020275" y="5940730"/>
            <a:ext cx="3857401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r"/>
            <a:r>
              <a:rPr lang="en-US" sz="2000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Instructor:</a:t>
            </a:r>
            <a:endParaRPr lang="en-US" sz="20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sz="20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Dr AP Hidayat Ullah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FA2524-98CC-4D11-BEED-D13524253046}"/>
              </a:ext>
            </a:extLst>
          </p:cNvPr>
          <p:cNvSpPr txBox="1"/>
          <p:nvPr/>
        </p:nvSpPr>
        <p:spPr>
          <a:xfrm>
            <a:off x="314324" y="5940730"/>
            <a:ext cx="391198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Presented By :</a:t>
            </a:r>
            <a:r>
              <a:rPr lang="en-US" sz="2000" b="1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Arial"/>
                <a:cs typeface="Arial"/>
              </a:rPr>
              <a:t>NS Zahid Ashraf</a:t>
            </a:r>
          </a:p>
          <a:p>
            <a:r>
              <a:rPr lang="en-US" sz="2000" b="1" dirty="0">
                <a:solidFill>
                  <a:srgbClr val="FFC000"/>
                </a:solidFill>
              </a:rPr>
              <a:t>Number of Slides : </a:t>
            </a:r>
            <a:r>
              <a:rPr lang="en-GB" sz="20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26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62500" y="2311716"/>
            <a:ext cx="2667000" cy="344369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D5FFFB-E4D0-5C70-6E34-0F147DB1B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2</a:t>
            </a:fld>
            <a:r>
              <a:rPr lang="en-US"/>
              <a:t>/26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  <p:transition advClick="0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3E6B3-7770-128E-9040-9860EB435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A4EA741-3ACC-013F-2917-374D4B0F8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1143000"/>
          </a:xfrm>
        </p:spPr>
        <p:txBody>
          <a:bodyPr/>
          <a:lstStyle/>
          <a:p>
            <a:r>
              <a:rPr lang="en-US" dirty="0"/>
              <a:t>Sequence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2024E6F6-C687-E3B3-E26C-BC94DF37F118}"/>
              </a:ext>
            </a:extLst>
          </p:cNvPr>
          <p:cNvSpPr/>
          <p:nvPr/>
        </p:nvSpPr>
        <p:spPr>
          <a:xfrm>
            <a:off x="4233947" y="3130215"/>
            <a:ext cx="3724105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sz="2000" dirty="0">
                <a:solidFill>
                  <a:schemeClr val="tx1"/>
                </a:solidFill>
              </a:rPr>
              <a:t>Literature Review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EA96DC49-F5F4-5BE7-CE7F-0AF41D299A23}"/>
              </a:ext>
            </a:extLst>
          </p:cNvPr>
          <p:cNvSpPr/>
          <p:nvPr/>
        </p:nvSpPr>
        <p:spPr>
          <a:xfrm>
            <a:off x="4233947" y="2340596"/>
            <a:ext cx="3724105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sz="2000" dirty="0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B38E58B5-76D7-E9D7-8E80-9C078E7CA524}"/>
              </a:ext>
            </a:extLst>
          </p:cNvPr>
          <p:cNvSpPr/>
          <p:nvPr/>
        </p:nvSpPr>
        <p:spPr>
          <a:xfrm>
            <a:off x="4228774" y="1550978"/>
            <a:ext cx="3724105" cy="721294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sz="2000" dirty="0">
                <a:solidFill>
                  <a:schemeClr val="tx1"/>
                </a:solidFill>
              </a:rPr>
              <a:t>Project Aim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DF25805F-0D01-6022-07FA-63EB8E10767D}"/>
              </a:ext>
            </a:extLst>
          </p:cNvPr>
          <p:cNvSpPr/>
          <p:nvPr/>
        </p:nvSpPr>
        <p:spPr>
          <a:xfrm>
            <a:off x="4230210" y="3919833"/>
            <a:ext cx="3725789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tx1"/>
                </a:solidFill>
              </a:rPr>
              <a:t>Methodology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0F4DAE-06EC-40DF-E187-2AC1EC630858}"/>
              </a:ext>
            </a:extLst>
          </p:cNvPr>
          <p:cNvSpPr/>
          <p:nvPr/>
        </p:nvSpPr>
        <p:spPr>
          <a:xfrm>
            <a:off x="4232509" y="4709452"/>
            <a:ext cx="3725789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244606ED-03EB-EB5E-E5EC-0337146F4233}"/>
              </a:ext>
            </a:extLst>
          </p:cNvPr>
          <p:cNvSpPr/>
          <p:nvPr/>
        </p:nvSpPr>
        <p:spPr>
          <a:xfrm>
            <a:off x="4221301" y="5499070"/>
            <a:ext cx="3725789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5185F-C50F-A13F-0CC7-227735735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3</a:t>
            </a:fld>
            <a:r>
              <a:rPr lang="en-US"/>
              <a:t>/26</a:t>
            </a:r>
            <a:endParaRPr lang="en-US" dirty="0">
              <a:latin typeface="+mj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886AEB-FD3D-6D40-C69F-9DD27C603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Design of Concurrent Dual Band Bandpass Filter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813165508"/>
      </p:ext>
    </p:extLst>
  </p:cSld>
  <p:clrMapOvr>
    <a:masterClrMapping/>
  </p:clrMapOvr>
  <p:transition advClick="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Aim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9E81B7-EBC3-ABDE-6BB1-7D06BA0A2065}"/>
              </a:ext>
            </a:extLst>
          </p:cNvPr>
          <p:cNvSpPr/>
          <p:nvPr/>
        </p:nvSpPr>
        <p:spPr>
          <a:xfrm>
            <a:off x="1501285" y="3010686"/>
            <a:ext cx="9697432" cy="1490133"/>
          </a:xfrm>
          <a:prstGeom prst="roundRect">
            <a:avLst/>
          </a:prstGeom>
          <a:gradFill flip="none" rotWithShape="1">
            <a:gsLst>
              <a:gs pos="0">
                <a:srgbClr val="A45004">
                  <a:shade val="30000"/>
                  <a:satMod val="115000"/>
                </a:srgbClr>
              </a:gs>
              <a:gs pos="50000">
                <a:srgbClr val="A45004">
                  <a:shade val="67500"/>
                  <a:satMod val="115000"/>
                </a:srgbClr>
              </a:gs>
              <a:gs pos="100000">
                <a:srgbClr val="A45004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E08B1-CBD9-A75C-62AE-3A381A380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4</a:t>
            </a:fld>
            <a:r>
              <a:rPr lang="en-US"/>
              <a:t>/26</a:t>
            </a:r>
            <a:endParaRPr lang="en-US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22C86B-8544-2E41-32FF-F7C581283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Design of Concurrent Dual Band Bandpass Filter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B63B6-1153-8DD1-C905-35C2D5B9E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E9D95-C2C5-D780-712E-0CC2E62A9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435FA6-E2C3-7EA0-A765-AE40A5762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0" y="1589653"/>
            <a:ext cx="6611668" cy="4525963"/>
          </a:xfrm>
        </p:spPr>
        <p:txBody>
          <a:bodyPr/>
          <a:lstStyle/>
          <a:p>
            <a:pPr algn="just">
              <a:spcAft>
                <a:spcPts val="1800"/>
              </a:spcAft>
            </a:pPr>
            <a:r>
              <a:rPr lang="en-US" sz="2400" dirty="0"/>
              <a:t>(Add points here)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E306A-1C8D-5229-9F36-71E760A016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5</a:t>
            </a:fld>
            <a:r>
              <a:rPr lang="en-US"/>
              <a:t>/26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A3828E-05C2-CAE0-CD2F-600B709A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Design of Concurrent Dual Band Bandpass Filter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239470173"/>
      </p:ext>
    </p:extLst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7DB531-845E-E843-8855-9F4437DC2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00D0-3F72-BA5E-A39B-823FF8C9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7632175"/>
      </p:ext>
    </p:extLst>
  </p:cSld>
  <p:clrMapOvr>
    <a:masterClrMapping/>
  </p:clrMapOvr>
  <p:transition advClick="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B2EFFE5-2C87-0072-F4CA-9ACA78841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D8090-E1B5-0D4F-1E22-66FE7DA18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A69FC-6F4F-238B-0263-5167B8E0D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ts val="1800"/>
              </a:spcAft>
            </a:pPr>
            <a:r>
              <a:rPr lang="en-US" sz="2800" dirty="0" err="1"/>
              <a:t>igue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C0215-21F8-F083-BAD5-391DBA835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7</a:t>
            </a:fld>
            <a:r>
              <a:rPr lang="en-US"/>
              <a:t>/26</a:t>
            </a:r>
            <a:endParaRPr lang="en-US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F82A1-1C62-8185-948D-9A78E665A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Design of Concurrent Dual Band Bandpass Filter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468862741"/>
      </p:ext>
    </p:extLst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BB5D6-327E-0DA2-2CF5-59DE85CC3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09956606"/>
      </p:ext>
    </p:extLst>
  </p:cSld>
  <p:clrMapOvr>
    <a:masterClrMapping/>
  </p:clrMapOvr>
  <p:transition advClick="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2265-6460-D387-F5E6-4BFE98C5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1B6DE-43D7-2599-834E-EAD234E8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8C3234-130D-B26B-F235-4D1B1A4B8D1A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B2210-99DB-7634-963C-B1900E931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9</a:t>
            </a:fld>
            <a:r>
              <a:rPr lang="en-US"/>
              <a:t>/26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CF182B-5C92-C173-34E0-32DA52D3C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Design of Concurrent Dual Band Bandpass Filter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4926858"/>
      </p:ext>
    </p:extLst>
  </p:cSld>
  <p:clrMapOvr>
    <a:masterClrMapping/>
  </p:clrMapOvr>
  <p:transition advClick="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F2E0B-9C15-EA4C-4FB3-9084ABBC4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D775-6B23-6A02-B04D-C7B9AFE6A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3B76C8-DA6B-59A1-E8A9-5CA131AE1C18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E448C-BB85-D181-391C-256DB3899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10</a:t>
            </a:fld>
            <a:r>
              <a:rPr lang="en-US"/>
              <a:t>/26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37952-75E1-07C4-5014-DDD8A750C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Design of Concurrent Dual Band Bandpass Filter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235264291"/>
      </p:ext>
    </p:extLst>
  </p:cSld>
  <p:clrMapOvr>
    <a:masterClrMapping/>
  </p:clrMapOvr>
  <p:transition advClick="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84E8E-F03C-2570-2FDA-6D4EC6773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D192-DF72-46E9-DD85-A16AF13C4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E58D8C-B909-FA49-9AEB-2047EA7AF120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C5437-83B9-364F-2C01-78429ED0B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11</a:t>
            </a:fld>
            <a:r>
              <a:rPr lang="en-US"/>
              <a:t>/26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EDA304-EE74-CABE-256C-2AEDDE610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Design of Concurrent Dual Band Bandpass Filter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217234142"/>
      </p:ext>
    </p:extLst>
  </p:cSld>
  <p:clrMapOvr>
    <a:masterClrMapping/>
  </p:clrMapOvr>
  <p:transition advClick="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8F8DA-88CA-D8CA-7281-E8C0C1B99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6B23D-2481-A0B5-54D5-495404EC2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27C0E6-A599-CB74-E9F3-601680F8FCB2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A9B0F-53A6-05A1-971A-D9403C0FC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12</a:t>
            </a:fld>
            <a:r>
              <a:rPr lang="en-US"/>
              <a:t>/26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74CBCE-A6A2-2422-8E76-86428E06B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Design of Concurrent Dual Band Bandpass Filter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48586684"/>
      </p:ext>
    </p:extLst>
  </p:cSld>
  <p:clrMapOvr>
    <a:masterClrMapping/>
  </p:clrMapOvr>
  <p:transition advClick="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4D0B3-7EFB-D6E9-1D2E-8E783FC39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6396-7ACD-7D15-4603-39A799B83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F79D07-E41F-83DB-9506-E52206C6ED62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A1E00-49C7-B4E3-8910-572390AFC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13</a:t>
            </a:fld>
            <a:r>
              <a:rPr lang="en-US"/>
              <a:t>/26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A8E00B-7BA9-9558-8FAA-A82C6A011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Design of Concurrent Dual Band Bandpass Filter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913733671"/>
      </p:ext>
    </p:extLst>
  </p:cSld>
  <p:clrMapOvr>
    <a:masterClrMapping/>
  </p:clrMapOvr>
  <p:transition advClick="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BDFA9-BBD9-2C4D-4014-7A6A50B28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A7647-B48F-6A77-5464-CD1B8BC36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2595612"/>
      </p:ext>
    </p:extLst>
  </p:cSld>
  <p:clrMapOvr>
    <a:masterClrMapping/>
  </p:clrMapOvr>
  <p:transition advClick="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87BA8-D893-5E15-A62B-7BA0C20C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77BD-D356-0009-2008-37C3F4D3D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CAC68-27EF-84A7-1A9C-8C87B5BCCF36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9B5CB-1936-C405-85A1-2EF405596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15</a:t>
            </a:fld>
            <a:r>
              <a:rPr lang="en-US"/>
              <a:t>/26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B8B3C-E040-27FF-4DD2-45BC54323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Design of Concurrent Dual Band Bandpass Filter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597973679"/>
      </p:ext>
    </p:extLst>
  </p:cSld>
  <p:clrMapOvr>
    <a:masterClrMapping/>
  </p:clrMapOvr>
  <p:transition advClick="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380C9-0110-B2C4-4D78-F5498A789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5CF01-68C2-2BA3-E23D-31FAD6DD0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0A08A3-2409-429A-7BDC-A22722A2658D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D22F4-CE7B-6C8B-D838-D7167ED7E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16</a:t>
            </a:fld>
            <a:r>
              <a:rPr lang="en-US"/>
              <a:t>/26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78CFB-6282-FAFB-4ED1-D4AEAD56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Design of Concurrent Dual Band Bandpass Filter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762114960"/>
      </p:ext>
    </p:extLst>
  </p:cSld>
  <p:clrMapOvr>
    <a:masterClrMapping/>
  </p:clrMapOvr>
  <p:transition advClick="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5AA9A-4690-BBF2-3A11-337AE2565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E9D75-ADBB-B564-A3BD-5D217662B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20AD0-2C21-2C21-CEAD-C27C6CEC646E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8F78F-3527-FBD0-E172-6CEA8D98D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17</a:t>
            </a:fld>
            <a:r>
              <a:rPr lang="en-US"/>
              <a:t>/26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45DEC6-7C4D-83D4-02F6-07F0B3945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Design of Concurrent Dual Band Bandpass Filter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495854995"/>
      </p:ext>
    </p:extLst>
  </p:cSld>
  <p:clrMapOvr>
    <a:masterClrMapping/>
  </p:clrMapOvr>
  <p:transition advClick="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BB5D6-327E-0DA2-2CF5-59DE85CC3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79702980"/>
      </p:ext>
    </p:extLst>
  </p:cSld>
  <p:clrMapOvr>
    <a:masterClrMapping/>
  </p:clrMapOvr>
  <p:transition advClick="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4CB8C-6F97-CF89-A883-E4C04E60A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21E9D-D718-7814-0FE9-075DC1C1D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0" y="2057401"/>
            <a:ext cx="10464800" cy="2463799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sz="2400" dirty="0" err="1"/>
              <a:t>ufydd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3ACB1A-4C0F-AFDD-F558-7CB2B284FA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19</a:t>
            </a:fld>
            <a:r>
              <a:rPr lang="en-US"/>
              <a:t>/26</a:t>
            </a:r>
            <a:endParaRPr lang="en-US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2C6F5F-20DB-F657-29A1-EAA1936FB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Design of Concurrent Dual Band Bandpass Filter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385089823"/>
      </p:ext>
    </p:extLst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7EAD-8BE0-3307-4E00-57E6003CC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73313185"/>
      </p:ext>
    </p:extLst>
  </p:cSld>
  <p:clrMapOvr>
    <a:masterClrMapping/>
  </p:clrMapOvr>
  <p:transition advClick="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7EAD-8BE0-3307-4E00-57E6003CC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QUESTIONS?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C8A82F-7990-BFE2-99EC-D9FE4E212A37}"/>
              </a:ext>
            </a:extLst>
          </p:cNvPr>
          <p:cNvSpPr txBox="1"/>
          <p:nvPr/>
        </p:nvSpPr>
        <p:spPr>
          <a:xfrm>
            <a:off x="6546851" y="6027003"/>
            <a:ext cx="5645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kern="1200" dirty="0"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NS Zahid Ashraf</a:t>
            </a:r>
          </a:p>
          <a:p>
            <a:pPr algn="r"/>
            <a:r>
              <a:rPr lang="en-US" sz="1600" kern="1200" dirty="0"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CEP: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Design of Concurrent Dual Band Bandpass Filter</a:t>
            </a:r>
          </a:p>
          <a:p>
            <a:pPr algn="r"/>
            <a:endParaRPr lang="en-US" sz="1600" kern="1200" dirty="0"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890095"/>
      </p:ext>
    </p:extLst>
  </p:cSld>
  <p:clrMapOvr>
    <a:masterClrMapping/>
  </p:clrMapOvr>
  <p:transition advClick="0">
    <p:fade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072C20E418A240A5C1431339DDA195" ma:contentTypeVersion="16" ma:contentTypeDescription="Create a new document." ma:contentTypeScope="" ma:versionID="291eef23fd7c2c98b41bfb4d9f17824b">
  <xsd:schema xmlns:xsd="http://www.w3.org/2001/XMLSchema" xmlns:xs="http://www.w3.org/2001/XMLSchema" xmlns:p="http://schemas.microsoft.com/office/2006/metadata/properties" xmlns:ns2="30c9249f-d813-433c-b61d-3a5604b33c8c" xmlns:ns3="c28e1103-0206-4002-a9ee-f80df76bf39b" targetNamespace="http://schemas.microsoft.com/office/2006/metadata/properties" ma:root="true" ma:fieldsID="abd46c31700a6ecb22347d34f96a4055" ns2:_="" ns3:_="">
    <xsd:import namespace="30c9249f-d813-433c-b61d-3a5604b33c8c"/>
    <xsd:import namespace="c28e1103-0206-4002-a9ee-f80df76bf3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c9249f-d813-433c-b61d-3a5604b33c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1b6d75b-5da6-464d-aa40-f1273986be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8e1103-0206-4002-a9ee-f80df76bf39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35e06508-a135-40f7-8523-22b55a50e414}" ma:internalName="TaxCatchAll" ma:showField="CatchAllData" ma:web="c28e1103-0206-4002-a9ee-f80df76bf3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B527A2-08D1-4664-8166-BD1FCC356E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c9249f-d813-433c-b61d-3a5604b33c8c"/>
    <ds:schemaRef ds:uri="c28e1103-0206-4002-a9ee-f80df76bf3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4D7D1E1-B3D9-4BB5-9B73-4B191EB3412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9887</TotalTime>
  <Words>239</Words>
  <Application>Microsoft Office PowerPoint</Application>
  <PresentationFormat>Widescreen</PresentationFormat>
  <Paragraphs>90</Paragraphs>
  <Slides>21</Slides>
  <Notes>17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Wingdings</vt:lpstr>
      <vt:lpstr>1_Office Theme</vt:lpstr>
      <vt:lpstr>Custom Design</vt:lpstr>
      <vt:lpstr>PowerPoint Presentation</vt:lpstr>
      <vt:lpstr>PowerPoint Presentation</vt:lpstr>
      <vt:lpstr>Sequence</vt:lpstr>
      <vt:lpstr>Project Aim</vt:lpstr>
      <vt:lpstr>Introduction</vt:lpstr>
      <vt:lpstr>Literature Review</vt:lpstr>
      <vt:lpstr>Literature Review</vt:lpstr>
      <vt:lpstr>Methodology</vt:lpstr>
      <vt:lpstr>Methodology</vt:lpstr>
      <vt:lpstr>Methodology</vt:lpstr>
      <vt:lpstr>Methodology</vt:lpstr>
      <vt:lpstr>Methodology</vt:lpstr>
      <vt:lpstr>Methodology</vt:lpstr>
      <vt:lpstr>Results</vt:lpstr>
      <vt:lpstr>Results</vt:lpstr>
      <vt:lpstr>Results</vt:lpstr>
      <vt:lpstr>Results</vt:lpstr>
      <vt:lpstr>Conclusion</vt:lpstr>
      <vt:lpstr>Conclusion</vt:lpstr>
      <vt:lpstr>THANK YOU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QMAQ</dc:creator>
  <cp:lastModifiedBy>Ahmad Ghalib Alvi</cp:lastModifiedBy>
  <cp:revision>617</cp:revision>
  <dcterms:created xsi:type="dcterms:W3CDTF">2010-01-23T07:30:24Z</dcterms:created>
  <dcterms:modified xsi:type="dcterms:W3CDTF">2026-08-22T17:38:33Z</dcterms:modified>
</cp:coreProperties>
</file>